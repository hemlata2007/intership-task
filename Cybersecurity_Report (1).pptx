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625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548640" y="548640"/>
            <a:ext cx="45720" cy="45720"/>
          </a:xfrm>
          <a:prstGeom prst="ellipse">
            <a:avLst/>
          </a:prstGeom>
          <a:solidFill>
            <a:srgbClr val="00B4D8">
              <a:alpha val="60000"/>
            </a:srgbClr>
          </a:solidFill>
          <a:ln/>
        </p:spPr>
      </p:sp>
      <p:sp>
        <p:nvSpPr>
          <p:cNvPr id="3" name="Shape 1"/>
          <p:cNvSpPr/>
          <p:nvPr/>
        </p:nvSpPr>
        <p:spPr>
          <a:xfrm>
            <a:off x="868680" y="548640"/>
            <a:ext cx="45720" cy="45720"/>
          </a:xfrm>
          <a:prstGeom prst="ellipse">
            <a:avLst/>
          </a:prstGeom>
          <a:solidFill>
            <a:srgbClr val="00B4D8">
              <a:alpha val="60000"/>
            </a:srgbClr>
          </a:solidFill>
          <a:ln/>
        </p:spPr>
      </p:sp>
      <p:sp>
        <p:nvSpPr>
          <p:cNvPr id="4" name="Shape 2"/>
          <p:cNvSpPr/>
          <p:nvPr/>
        </p:nvSpPr>
        <p:spPr>
          <a:xfrm>
            <a:off x="1188720" y="548640"/>
            <a:ext cx="45720" cy="45720"/>
          </a:xfrm>
          <a:prstGeom prst="ellipse">
            <a:avLst/>
          </a:prstGeom>
          <a:solidFill>
            <a:srgbClr val="00B4D8">
              <a:alpha val="60000"/>
            </a:srgbClr>
          </a:solidFill>
          <a:ln/>
        </p:spPr>
      </p:sp>
      <p:sp>
        <p:nvSpPr>
          <p:cNvPr id="5" name="Shape 3"/>
          <p:cNvSpPr/>
          <p:nvPr/>
        </p:nvSpPr>
        <p:spPr>
          <a:xfrm>
            <a:off x="1508760" y="548640"/>
            <a:ext cx="45720" cy="45720"/>
          </a:xfrm>
          <a:prstGeom prst="ellipse">
            <a:avLst/>
          </a:prstGeom>
          <a:solidFill>
            <a:srgbClr val="00B4D8">
              <a:alpha val="60000"/>
            </a:srgbClr>
          </a:solidFill>
          <a:ln/>
        </p:spPr>
      </p:sp>
      <p:sp>
        <p:nvSpPr>
          <p:cNvPr id="6" name="Shape 4"/>
          <p:cNvSpPr/>
          <p:nvPr/>
        </p:nvSpPr>
        <p:spPr>
          <a:xfrm>
            <a:off x="1828800" y="548640"/>
            <a:ext cx="45720" cy="45720"/>
          </a:xfrm>
          <a:prstGeom prst="ellipse">
            <a:avLst/>
          </a:prstGeom>
          <a:solidFill>
            <a:srgbClr val="00B4D8">
              <a:alpha val="60000"/>
            </a:srgbClr>
          </a:solidFill>
          <a:ln/>
        </p:spPr>
      </p:sp>
      <p:sp>
        <p:nvSpPr>
          <p:cNvPr id="7" name="Shape 5"/>
          <p:cNvSpPr/>
          <p:nvPr/>
        </p:nvSpPr>
        <p:spPr>
          <a:xfrm>
            <a:off x="2148840" y="548640"/>
            <a:ext cx="45720" cy="45720"/>
          </a:xfrm>
          <a:prstGeom prst="ellipse">
            <a:avLst/>
          </a:prstGeom>
          <a:solidFill>
            <a:srgbClr val="00B4D8">
              <a:alpha val="60000"/>
            </a:srgbClr>
          </a:solidFill>
          <a:ln/>
        </p:spPr>
      </p:sp>
      <p:sp>
        <p:nvSpPr>
          <p:cNvPr id="8" name="Shape 6"/>
          <p:cNvSpPr/>
          <p:nvPr/>
        </p:nvSpPr>
        <p:spPr>
          <a:xfrm>
            <a:off x="0" y="4434840"/>
            <a:ext cx="12188952" cy="2423160"/>
          </a:xfrm>
          <a:prstGeom prst="rect">
            <a:avLst/>
          </a:prstGeom>
          <a:solidFill>
            <a:srgbClr val="13293D"/>
          </a:solidFill>
          <a:ln/>
        </p:spPr>
      </p:sp>
      <p:pic>
        <p:nvPicPr>
          <p:cNvPr id="9" name="Image 0" descr="shield.png"/>
          <p:cNvPicPr>
            <a:picLocks noChangeAspect="1"/>
          </p:cNvPicPr>
          <p:nvPr/>
        </p:nvPicPr>
        <p:blipFill>
          <a:blip r:embed="rId3"/>
          <a:stretch>
            <a:fillRect/>
          </a:stretch>
        </p:blipFill>
        <p:spPr>
          <a:xfrm>
            <a:off x="822960" y="1051560"/>
            <a:ext cx="868680" cy="868680"/>
          </a:xfrm>
          <a:prstGeom prst="rect">
            <a:avLst/>
          </a:prstGeom>
        </p:spPr>
      </p:pic>
      <p:sp>
        <p:nvSpPr>
          <p:cNvPr id="10" name="Text 7"/>
          <p:cNvSpPr/>
          <p:nvPr/>
        </p:nvSpPr>
        <p:spPr>
          <a:xfrm>
            <a:off x="822960" y="2011680"/>
            <a:ext cx="9601200" cy="365760"/>
          </a:xfrm>
          <a:prstGeom prst="rect">
            <a:avLst/>
          </a:prstGeom>
          <a:noFill/>
          <a:ln/>
        </p:spPr>
        <p:txBody>
          <a:bodyPr wrap="square" rtlCol="0" anchor="ctr"/>
          <a:lstStyle/>
          <a:p>
            <a:pPr marL="0" indent="0">
              <a:buNone/>
            </a:pPr>
            <a:r>
              <a:rPr lang="en-US" sz="1400" b="1" kern="0" spc="300" dirty="0">
                <a:solidFill>
                  <a:srgbClr val="00B4D8"/>
                </a:solidFill>
                <a:latin typeface="Calibri" pitchFamily="34" charset="0"/>
                <a:ea typeface="Calibri" pitchFamily="34" charset="-122"/>
                <a:cs typeface="Calibri" pitchFamily="34" charset="-120"/>
              </a:rPr>
              <a:t>CYBERSECURITY INTERNSHIP PROGRAM  ·  TASK 1</a:t>
            </a:r>
            <a:endParaRPr lang="en-US" sz="1400" dirty="0"/>
          </a:p>
        </p:txBody>
      </p:sp>
      <p:sp>
        <p:nvSpPr>
          <p:cNvPr id="11" name="Text 8"/>
          <p:cNvSpPr/>
          <p:nvPr/>
        </p:nvSpPr>
        <p:spPr>
          <a:xfrm>
            <a:off x="777240" y="2423160"/>
            <a:ext cx="10058400" cy="1005840"/>
          </a:xfrm>
          <a:prstGeom prst="rect">
            <a:avLst/>
          </a:prstGeom>
          <a:noFill/>
          <a:ln/>
        </p:spPr>
        <p:txBody>
          <a:bodyPr wrap="square"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Cybersecurity</a:t>
            </a:r>
            <a:endParaRPr lang="en-US" sz="5000" dirty="0"/>
          </a:p>
        </p:txBody>
      </p:sp>
      <p:sp>
        <p:nvSpPr>
          <p:cNvPr id="12" name="Text 9"/>
          <p:cNvSpPr/>
          <p:nvPr/>
        </p:nvSpPr>
        <p:spPr>
          <a:xfrm>
            <a:off x="822960" y="3291840"/>
            <a:ext cx="9144000" cy="457200"/>
          </a:xfrm>
          <a:prstGeom prst="rect">
            <a:avLst/>
          </a:prstGeom>
          <a:noFill/>
          <a:ln/>
        </p:spPr>
        <p:txBody>
          <a:bodyPr wrap="square" rtlCol="0" anchor="ctr"/>
          <a:lstStyle/>
          <a:p>
            <a:pPr marL="0" indent="0">
              <a:buNone/>
            </a:pPr>
            <a:r>
              <a:rPr lang="en-US" sz="1700" i="1" dirty="0">
                <a:solidFill>
                  <a:srgbClr val="AFC3D6"/>
                </a:solidFill>
                <a:latin typeface="Calibri" pitchFamily="34" charset="0"/>
                <a:ea typeface="Calibri" pitchFamily="34" charset="-122"/>
                <a:cs typeface="Calibri" pitchFamily="34" charset="-120"/>
              </a:rPr>
              <a:t>Modern Threats, Real-World Impact &amp; Preventive Strategy</a:t>
            </a:r>
            <a:endParaRPr lang="en-US" sz="1700" dirty="0"/>
          </a:p>
        </p:txBody>
      </p:sp>
      <p:sp>
        <p:nvSpPr>
          <p:cNvPr id="13" name="Text 10"/>
          <p:cNvSpPr/>
          <p:nvPr/>
        </p:nvSpPr>
        <p:spPr>
          <a:xfrm>
            <a:off x="822960" y="4709160"/>
            <a:ext cx="7315200" cy="320040"/>
          </a:xfrm>
          <a:prstGeom prst="rect">
            <a:avLst/>
          </a:prstGeom>
          <a:noFill/>
          <a:ln/>
        </p:spPr>
        <p:txBody>
          <a:bodyPr wrap="square" rtlCol="0" anchor="ctr"/>
          <a:lstStyle/>
          <a:p>
            <a:pPr marL="0" indent="0">
              <a:buNone/>
            </a:pPr>
            <a:r>
              <a:rPr lang="en-US" sz="1300" dirty="0">
                <a:solidFill>
                  <a:srgbClr val="AFC3D6"/>
                </a:solidFill>
                <a:latin typeface="Calibri" pitchFamily="34" charset="0"/>
                <a:ea typeface="Calibri" pitchFamily="34" charset="-122"/>
                <a:cs typeface="Calibri" pitchFamily="34" charset="-120"/>
              </a:rPr>
              <a:t>Submitted by</a:t>
            </a:r>
            <a:endParaRPr lang="en-US" sz="1300" dirty="0"/>
          </a:p>
        </p:txBody>
      </p:sp>
      <p:sp>
        <p:nvSpPr>
          <p:cNvPr id="14" name="Text 11"/>
          <p:cNvSpPr/>
          <p:nvPr/>
        </p:nvSpPr>
        <p:spPr>
          <a:xfrm>
            <a:off x="822960" y="5029200"/>
            <a:ext cx="731520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Hemlata</a:t>
            </a:r>
            <a:endParaRPr lang="en-US" sz="2400" dirty="0"/>
          </a:p>
        </p:txBody>
      </p:sp>
      <p:sp>
        <p:nvSpPr>
          <p:cNvPr id="15" name="Text 12"/>
          <p:cNvSpPr/>
          <p:nvPr/>
        </p:nvSpPr>
        <p:spPr>
          <a:xfrm>
            <a:off x="822960" y="6172200"/>
            <a:ext cx="7315200" cy="365760"/>
          </a:xfrm>
          <a:prstGeom prst="rect">
            <a:avLst/>
          </a:prstGeom>
          <a:noFill/>
          <a:ln/>
        </p:spPr>
        <p:txBody>
          <a:bodyPr wrap="square" rtlCol="0" anchor="ctr"/>
          <a:lstStyle/>
          <a:p>
            <a:pPr marL="0" indent="0">
              <a:buNone/>
            </a:pPr>
            <a:r>
              <a:rPr lang="en-US" sz="1200" dirty="0">
                <a:solidFill>
                  <a:srgbClr val="7C90A5"/>
                </a:solidFill>
                <a:latin typeface="Calibri" pitchFamily="34" charset="0"/>
                <a:ea typeface="Calibri" pitchFamily="34" charset="-122"/>
                <a:cs typeface="Calibri" pitchFamily="34" charset="-120"/>
              </a:rPr>
              <a:t>July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548640"/>
            <a:ext cx="7315200" cy="640080"/>
          </a:xfrm>
          <a:prstGeom prst="rect">
            <a:avLst/>
          </a:prstGeom>
          <a:noFill/>
          <a:ln/>
        </p:spPr>
        <p:txBody>
          <a:bodyPr wrap="square" rtlCol="0" anchor="ctr"/>
          <a:lstStyle/>
          <a:p>
            <a:pPr marL="0" indent="0">
              <a:buNone/>
            </a:pPr>
            <a:r>
              <a:rPr lang="en-US" sz="3200" b="1" dirty="0">
                <a:solidFill>
                  <a:srgbClr val="142433"/>
                </a:solidFill>
                <a:latin typeface="Cambria" pitchFamily="34" charset="0"/>
                <a:ea typeface="Cambria" pitchFamily="34" charset="-122"/>
                <a:cs typeface="Cambria" pitchFamily="34" charset="-120"/>
              </a:rPr>
              <a:t>Agenda</a:t>
            </a:r>
            <a:endParaRPr lang="en-US" sz="3200" dirty="0"/>
          </a:p>
        </p:txBody>
      </p:sp>
      <p:sp>
        <p:nvSpPr>
          <p:cNvPr id="3" name="Text 1"/>
          <p:cNvSpPr/>
          <p:nvPr/>
        </p:nvSpPr>
        <p:spPr>
          <a:xfrm>
            <a:off x="548640" y="1143000"/>
            <a:ext cx="7315200" cy="365760"/>
          </a:xfrm>
          <a:prstGeom prst="rect">
            <a:avLst/>
          </a:prstGeom>
          <a:noFill/>
          <a:ln/>
        </p:spPr>
        <p:txBody>
          <a:bodyPr wrap="square" rtlCol="0" anchor="ctr"/>
          <a:lstStyle/>
          <a:p>
            <a:pPr marL="0" indent="0">
              <a:buNone/>
            </a:pPr>
            <a:r>
              <a:rPr lang="en-US" sz="1400" i="1" dirty="0">
                <a:solidFill>
                  <a:srgbClr val="5C6B7A"/>
                </a:solidFill>
                <a:latin typeface="Calibri" pitchFamily="34" charset="0"/>
                <a:ea typeface="Calibri" pitchFamily="34" charset="-122"/>
                <a:cs typeface="Calibri" pitchFamily="34" charset="-120"/>
              </a:rPr>
              <a:t>What this report covers</a:t>
            </a:r>
            <a:endParaRPr lang="en-US" sz="1400" dirty="0"/>
          </a:p>
        </p:txBody>
      </p:sp>
      <p:sp>
        <p:nvSpPr>
          <p:cNvPr id="4" name="Shape 2"/>
          <p:cNvSpPr/>
          <p:nvPr/>
        </p:nvSpPr>
        <p:spPr>
          <a:xfrm>
            <a:off x="548640" y="1874520"/>
            <a:ext cx="11064240" cy="804672"/>
          </a:xfrm>
          <a:prstGeom prst="roundRect">
            <a:avLst>
              <a:gd name="adj" fmla="val 9091"/>
            </a:avLst>
          </a:prstGeom>
          <a:solidFill>
            <a:srgbClr val="F1F5F8"/>
          </a:solidFill>
          <a:ln/>
        </p:spPr>
      </p:sp>
      <p:sp>
        <p:nvSpPr>
          <p:cNvPr id="5" name="Shape 3"/>
          <p:cNvSpPr/>
          <p:nvPr/>
        </p:nvSpPr>
        <p:spPr>
          <a:xfrm>
            <a:off x="777240" y="2011680"/>
            <a:ext cx="530352" cy="530352"/>
          </a:xfrm>
          <a:prstGeom prst="ellipse">
            <a:avLst/>
          </a:prstGeom>
          <a:solidFill>
            <a:srgbClr val="0B1F3A"/>
          </a:solidFill>
          <a:ln/>
        </p:spPr>
      </p:sp>
      <p:pic>
        <p:nvPicPr>
          <p:cNvPr id="6" name="Image 0" descr="shield.png"/>
          <p:cNvPicPr>
            <a:picLocks noChangeAspect="1"/>
          </p:cNvPicPr>
          <p:nvPr/>
        </p:nvPicPr>
        <p:blipFill>
          <a:blip r:embed="rId3"/>
          <a:stretch>
            <a:fillRect/>
          </a:stretch>
        </p:blipFill>
        <p:spPr>
          <a:xfrm>
            <a:off x="905256" y="2139696"/>
            <a:ext cx="274320" cy="274320"/>
          </a:xfrm>
          <a:prstGeom prst="rect">
            <a:avLst/>
          </a:prstGeom>
        </p:spPr>
      </p:pic>
      <p:sp>
        <p:nvSpPr>
          <p:cNvPr id="7" name="Text 4"/>
          <p:cNvSpPr/>
          <p:nvPr/>
        </p:nvSpPr>
        <p:spPr>
          <a:xfrm>
            <a:off x="1508760" y="1874520"/>
            <a:ext cx="640080" cy="804672"/>
          </a:xfrm>
          <a:prstGeom prst="rect">
            <a:avLst/>
          </a:prstGeom>
          <a:noFill/>
          <a:ln/>
        </p:spPr>
        <p:txBody>
          <a:bodyPr wrap="square" rtlCol="0" anchor="ctr"/>
          <a:lstStyle/>
          <a:p>
            <a:pPr marL="0" indent="0">
              <a:buNone/>
            </a:pPr>
            <a:r>
              <a:rPr lang="en-US" sz="2000" b="1" dirty="0">
                <a:solidFill>
                  <a:srgbClr val="C7D2DB"/>
                </a:solidFill>
                <a:latin typeface="Cambria" pitchFamily="34" charset="0"/>
                <a:ea typeface="Cambria" pitchFamily="34" charset="-122"/>
                <a:cs typeface="Cambria" pitchFamily="34" charset="-120"/>
              </a:rPr>
              <a:t>01</a:t>
            </a:r>
            <a:endParaRPr lang="en-US" sz="2000" dirty="0"/>
          </a:p>
        </p:txBody>
      </p:sp>
      <p:sp>
        <p:nvSpPr>
          <p:cNvPr id="8" name="Text 5"/>
          <p:cNvSpPr/>
          <p:nvPr/>
        </p:nvSpPr>
        <p:spPr>
          <a:xfrm>
            <a:off x="2240280" y="1947672"/>
            <a:ext cx="4206240" cy="365760"/>
          </a:xfrm>
          <a:prstGeom prst="rect">
            <a:avLst/>
          </a:prstGeom>
          <a:noFill/>
          <a:ln/>
        </p:spPr>
        <p:txBody>
          <a:bodyPr wrap="square" rtlCol="0" anchor="ctr"/>
          <a:lstStyle/>
          <a:p>
            <a:pPr marL="0" indent="0">
              <a:buNone/>
            </a:pPr>
            <a:r>
              <a:rPr lang="en-US" sz="1500" b="1" dirty="0">
                <a:solidFill>
                  <a:srgbClr val="142433"/>
                </a:solidFill>
                <a:latin typeface="Calibri" pitchFamily="34" charset="0"/>
                <a:ea typeface="Calibri" pitchFamily="34" charset="-122"/>
                <a:cs typeface="Calibri" pitchFamily="34" charset="-120"/>
              </a:rPr>
              <a:t>Introduction</a:t>
            </a:r>
            <a:endParaRPr lang="en-US" sz="1500" dirty="0"/>
          </a:p>
        </p:txBody>
      </p:sp>
      <p:sp>
        <p:nvSpPr>
          <p:cNvPr id="9" name="Text 6"/>
          <p:cNvSpPr/>
          <p:nvPr/>
        </p:nvSpPr>
        <p:spPr>
          <a:xfrm>
            <a:off x="2240280" y="2295144"/>
            <a:ext cx="9052560" cy="320040"/>
          </a:xfrm>
          <a:prstGeom prst="rect">
            <a:avLst/>
          </a:prstGeom>
          <a:noFill/>
          <a:ln/>
        </p:spPr>
        <p:txBody>
          <a:bodyPr wrap="square" rtlCol="0" anchor="ctr"/>
          <a:lstStyle/>
          <a:p>
            <a:pPr marL="0" indent="0">
              <a:buNone/>
            </a:pPr>
            <a:r>
              <a:rPr lang="en-US" sz="1150" dirty="0">
                <a:solidFill>
                  <a:srgbClr val="5C6B7A"/>
                </a:solidFill>
                <a:latin typeface="Calibri" pitchFamily="34" charset="0"/>
                <a:ea typeface="Calibri" pitchFamily="34" charset="-122"/>
                <a:cs typeface="Calibri" pitchFamily="34" charset="-120"/>
              </a:rPr>
              <a:t>What cybersecurity is, and why it matters today</a:t>
            </a:r>
            <a:endParaRPr lang="en-US" sz="1150" dirty="0"/>
          </a:p>
        </p:txBody>
      </p:sp>
      <p:sp>
        <p:nvSpPr>
          <p:cNvPr id="10" name="Shape 7"/>
          <p:cNvSpPr/>
          <p:nvPr/>
        </p:nvSpPr>
        <p:spPr>
          <a:xfrm>
            <a:off x="548640" y="2807208"/>
            <a:ext cx="11064240" cy="804672"/>
          </a:xfrm>
          <a:prstGeom prst="roundRect">
            <a:avLst>
              <a:gd name="adj" fmla="val 9091"/>
            </a:avLst>
          </a:prstGeom>
          <a:solidFill>
            <a:srgbClr val="FFFFFF"/>
          </a:solidFill>
          <a:ln/>
        </p:spPr>
      </p:sp>
      <p:sp>
        <p:nvSpPr>
          <p:cNvPr id="11" name="Shape 8"/>
          <p:cNvSpPr/>
          <p:nvPr/>
        </p:nvSpPr>
        <p:spPr>
          <a:xfrm>
            <a:off x="777240" y="2944368"/>
            <a:ext cx="530352" cy="530352"/>
          </a:xfrm>
          <a:prstGeom prst="ellipse">
            <a:avLst/>
          </a:prstGeom>
          <a:solidFill>
            <a:srgbClr val="0B1F3A"/>
          </a:solidFill>
          <a:ln/>
        </p:spPr>
      </p:sp>
      <p:pic>
        <p:nvPicPr>
          <p:cNvPr id="12" name="Image 1" descr="warning.png"/>
          <p:cNvPicPr>
            <a:picLocks noChangeAspect="1"/>
          </p:cNvPicPr>
          <p:nvPr/>
        </p:nvPicPr>
        <p:blipFill>
          <a:blip r:embed="rId4"/>
          <a:stretch>
            <a:fillRect/>
          </a:stretch>
        </p:blipFill>
        <p:spPr>
          <a:xfrm>
            <a:off x="905256" y="3072384"/>
            <a:ext cx="274320" cy="274320"/>
          </a:xfrm>
          <a:prstGeom prst="rect">
            <a:avLst/>
          </a:prstGeom>
        </p:spPr>
      </p:pic>
      <p:sp>
        <p:nvSpPr>
          <p:cNvPr id="13" name="Text 9"/>
          <p:cNvSpPr/>
          <p:nvPr/>
        </p:nvSpPr>
        <p:spPr>
          <a:xfrm>
            <a:off x="1508760" y="2807208"/>
            <a:ext cx="640080" cy="804672"/>
          </a:xfrm>
          <a:prstGeom prst="rect">
            <a:avLst/>
          </a:prstGeom>
          <a:noFill/>
          <a:ln/>
        </p:spPr>
        <p:txBody>
          <a:bodyPr wrap="square" rtlCol="0" anchor="ctr"/>
          <a:lstStyle/>
          <a:p>
            <a:pPr marL="0" indent="0">
              <a:buNone/>
            </a:pPr>
            <a:r>
              <a:rPr lang="en-US" sz="2000" b="1" dirty="0">
                <a:solidFill>
                  <a:srgbClr val="C7D2DB"/>
                </a:solidFill>
                <a:latin typeface="Cambria" pitchFamily="34" charset="0"/>
                <a:ea typeface="Cambria" pitchFamily="34" charset="-122"/>
                <a:cs typeface="Cambria" pitchFamily="34" charset="-120"/>
              </a:rPr>
              <a:t>02</a:t>
            </a:r>
            <a:endParaRPr lang="en-US" sz="2000" dirty="0"/>
          </a:p>
        </p:txBody>
      </p:sp>
      <p:sp>
        <p:nvSpPr>
          <p:cNvPr id="14" name="Text 10"/>
          <p:cNvSpPr/>
          <p:nvPr/>
        </p:nvSpPr>
        <p:spPr>
          <a:xfrm>
            <a:off x="2240280" y="2880360"/>
            <a:ext cx="4206240" cy="365760"/>
          </a:xfrm>
          <a:prstGeom prst="rect">
            <a:avLst/>
          </a:prstGeom>
          <a:noFill/>
          <a:ln/>
        </p:spPr>
        <p:txBody>
          <a:bodyPr wrap="square" rtlCol="0" anchor="ctr"/>
          <a:lstStyle/>
          <a:p>
            <a:pPr marL="0" indent="0">
              <a:buNone/>
            </a:pPr>
            <a:r>
              <a:rPr lang="en-US" sz="1500" b="1" dirty="0">
                <a:solidFill>
                  <a:srgbClr val="142433"/>
                </a:solidFill>
                <a:latin typeface="Calibri" pitchFamily="34" charset="0"/>
                <a:ea typeface="Calibri" pitchFamily="34" charset="-122"/>
                <a:cs typeface="Calibri" pitchFamily="34" charset="-120"/>
              </a:rPr>
              <a:t>Current Relevance</a:t>
            </a:r>
            <a:endParaRPr lang="en-US" sz="1500" dirty="0"/>
          </a:p>
        </p:txBody>
      </p:sp>
      <p:sp>
        <p:nvSpPr>
          <p:cNvPr id="15" name="Text 11"/>
          <p:cNvSpPr/>
          <p:nvPr/>
        </p:nvSpPr>
        <p:spPr>
          <a:xfrm>
            <a:off x="2240280" y="3227832"/>
            <a:ext cx="9052560" cy="320040"/>
          </a:xfrm>
          <a:prstGeom prst="rect">
            <a:avLst/>
          </a:prstGeom>
          <a:noFill/>
          <a:ln/>
        </p:spPr>
        <p:txBody>
          <a:bodyPr wrap="square" rtlCol="0" anchor="ctr"/>
          <a:lstStyle/>
          <a:p>
            <a:pPr marL="0" indent="0">
              <a:buNone/>
            </a:pPr>
            <a:r>
              <a:rPr lang="en-US" sz="1150" dirty="0">
                <a:solidFill>
                  <a:srgbClr val="5C6B7A"/>
                </a:solidFill>
                <a:latin typeface="Calibri" pitchFamily="34" charset="0"/>
                <a:ea typeface="Calibri" pitchFamily="34" charset="-122"/>
                <a:cs typeface="Calibri" pitchFamily="34" charset="-120"/>
              </a:rPr>
              <a:t>The scale of the threat landscape in 2026</a:t>
            </a:r>
            <a:endParaRPr lang="en-US" sz="1150" dirty="0"/>
          </a:p>
        </p:txBody>
      </p:sp>
      <p:sp>
        <p:nvSpPr>
          <p:cNvPr id="16" name="Shape 12"/>
          <p:cNvSpPr/>
          <p:nvPr/>
        </p:nvSpPr>
        <p:spPr>
          <a:xfrm>
            <a:off x="548640" y="3739896"/>
            <a:ext cx="11064240" cy="804672"/>
          </a:xfrm>
          <a:prstGeom prst="roundRect">
            <a:avLst>
              <a:gd name="adj" fmla="val 9091"/>
            </a:avLst>
          </a:prstGeom>
          <a:solidFill>
            <a:srgbClr val="F1F5F8"/>
          </a:solidFill>
          <a:ln/>
        </p:spPr>
      </p:sp>
      <p:sp>
        <p:nvSpPr>
          <p:cNvPr id="17" name="Shape 13"/>
          <p:cNvSpPr/>
          <p:nvPr/>
        </p:nvSpPr>
        <p:spPr>
          <a:xfrm>
            <a:off x="777240" y="3877056"/>
            <a:ext cx="530352" cy="530352"/>
          </a:xfrm>
          <a:prstGeom prst="ellipse">
            <a:avLst/>
          </a:prstGeom>
          <a:solidFill>
            <a:srgbClr val="E63946"/>
          </a:solidFill>
          <a:ln/>
        </p:spPr>
      </p:sp>
      <p:pic>
        <p:nvPicPr>
          <p:cNvPr id="18" name="Image 2" descr="bug.png"/>
          <p:cNvPicPr>
            <a:picLocks noChangeAspect="1"/>
          </p:cNvPicPr>
          <p:nvPr/>
        </p:nvPicPr>
        <p:blipFill>
          <a:blip r:embed="rId5"/>
          <a:stretch>
            <a:fillRect/>
          </a:stretch>
        </p:blipFill>
        <p:spPr>
          <a:xfrm>
            <a:off x="905256" y="4005072"/>
            <a:ext cx="274320" cy="274320"/>
          </a:xfrm>
          <a:prstGeom prst="rect">
            <a:avLst/>
          </a:prstGeom>
        </p:spPr>
      </p:pic>
      <p:sp>
        <p:nvSpPr>
          <p:cNvPr id="19" name="Text 14"/>
          <p:cNvSpPr/>
          <p:nvPr/>
        </p:nvSpPr>
        <p:spPr>
          <a:xfrm>
            <a:off x="1508760" y="3739896"/>
            <a:ext cx="640080" cy="804672"/>
          </a:xfrm>
          <a:prstGeom prst="rect">
            <a:avLst/>
          </a:prstGeom>
          <a:noFill/>
          <a:ln/>
        </p:spPr>
        <p:txBody>
          <a:bodyPr wrap="square" rtlCol="0" anchor="ctr"/>
          <a:lstStyle/>
          <a:p>
            <a:pPr marL="0" indent="0">
              <a:buNone/>
            </a:pPr>
            <a:r>
              <a:rPr lang="en-US" sz="2000" b="1" dirty="0">
                <a:solidFill>
                  <a:srgbClr val="C7D2DB"/>
                </a:solidFill>
                <a:latin typeface="Cambria" pitchFamily="34" charset="0"/>
                <a:ea typeface="Cambria" pitchFamily="34" charset="-122"/>
                <a:cs typeface="Cambria" pitchFamily="34" charset="-120"/>
              </a:rPr>
              <a:t>03</a:t>
            </a:r>
            <a:endParaRPr lang="en-US" sz="2000" dirty="0"/>
          </a:p>
        </p:txBody>
      </p:sp>
      <p:sp>
        <p:nvSpPr>
          <p:cNvPr id="20" name="Text 15"/>
          <p:cNvSpPr/>
          <p:nvPr/>
        </p:nvSpPr>
        <p:spPr>
          <a:xfrm>
            <a:off x="2240280" y="3813048"/>
            <a:ext cx="4206240" cy="365760"/>
          </a:xfrm>
          <a:prstGeom prst="rect">
            <a:avLst/>
          </a:prstGeom>
          <a:noFill/>
          <a:ln/>
        </p:spPr>
        <p:txBody>
          <a:bodyPr wrap="square" rtlCol="0" anchor="ctr"/>
          <a:lstStyle/>
          <a:p>
            <a:pPr marL="0" indent="0">
              <a:buNone/>
            </a:pPr>
            <a:r>
              <a:rPr lang="en-US" sz="1500" b="1" dirty="0">
                <a:solidFill>
                  <a:srgbClr val="142433"/>
                </a:solidFill>
                <a:latin typeface="Calibri" pitchFamily="34" charset="0"/>
                <a:ea typeface="Calibri" pitchFamily="34" charset="-122"/>
                <a:cs typeface="Calibri" pitchFamily="34" charset="-120"/>
              </a:rPr>
              <a:t>5 Major Modern Threats</a:t>
            </a:r>
            <a:endParaRPr lang="en-US" sz="1500" dirty="0"/>
          </a:p>
        </p:txBody>
      </p:sp>
      <p:sp>
        <p:nvSpPr>
          <p:cNvPr id="21" name="Text 16"/>
          <p:cNvSpPr/>
          <p:nvPr/>
        </p:nvSpPr>
        <p:spPr>
          <a:xfrm>
            <a:off x="2240280" y="4160520"/>
            <a:ext cx="9052560" cy="320040"/>
          </a:xfrm>
          <a:prstGeom prst="rect">
            <a:avLst/>
          </a:prstGeom>
          <a:noFill/>
          <a:ln/>
        </p:spPr>
        <p:txBody>
          <a:bodyPr wrap="square" rtlCol="0" anchor="ctr"/>
          <a:lstStyle/>
          <a:p>
            <a:pPr marL="0" indent="0">
              <a:buNone/>
            </a:pPr>
            <a:r>
              <a:rPr lang="en-US" sz="1150" dirty="0">
                <a:solidFill>
                  <a:srgbClr val="5C6B7A"/>
                </a:solidFill>
                <a:latin typeface="Calibri" pitchFamily="34" charset="0"/>
                <a:ea typeface="Calibri" pitchFamily="34" charset="-122"/>
                <a:cs typeface="Calibri" pitchFamily="34" charset="-120"/>
              </a:rPr>
              <a:t>Deep dive: description, impact, case study, prevention</a:t>
            </a:r>
            <a:endParaRPr lang="en-US" sz="1150" dirty="0"/>
          </a:p>
        </p:txBody>
      </p:sp>
      <p:sp>
        <p:nvSpPr>
          <p:cNvPr id="22" name="Shape 17"/>
          <p:cNvSpPr/>
          <p:nvPr/>
        </p:nvSpPr>
        <p:spPr>
          <a:xfrm>
            <a:off x="548640" y="4672584"/>
            <a:ext cx="11064240" cy="804672"/>
          </a:xfrm>
          <a:prstGeom prst="roundRect">
            <a:avLst>
              <a:gd name="adj" fmla="val 9091"/>
            </a:avLst>
          </a:prstGeom>
          <a:solidFill>
            <a:srgbClr val="FFFFFF"/>
          </a:solidFill>
          <a:ln/>
        </p:spPr>
      </p:sp>
      <p:sp>
        <p:nvSpPr>
          <p:cNvPr id="23" name="Shape 18"/>
          <p:cNvSpPr/>
          <p:nvPr/>
        </p:nvSpPr>
        <p:spPr>
          <a:xfrm>
            <a:off x="777240" y="4809744"/>
            <a:ext cx="530352" cy="530352"/>
          </a:xfrm>
          <a:prstGeom prst="ellipse">
            <a:avLst/>
          </a:prstGeom>
          <a:solidFill>
            <a:srgbClr val="0B1F3A"/>
          </a:solidFill>
          <a:ln/>
        </p:spPr>
      </p:sp>
      <p:pic>
        <p:nvPicPr>
          <p:cNvPr id="24" name="Image 3" descr="chart.png"/>
          <p:cNvPicPr>
            <a:picLocks noChangeAspect="1"/>
          </p:cNvPicPr>
          <p:nvPr/>
        </p:nvPicPr>
        <p:blipFill>
          <a:blip r:embed="rId6"/>
          <a:stretch>
            <a:fillRect/>
          </a:stretch>
        </p:blipFill>
        <p:spPr>
          <a:xfrm>
            <a:off x="905256" y="4937760"/>
            <a:ext cx="274320" cy="274320"/>
          </a:xfrm>
          <a:prstGeom prst="rect">
            <a:avLst/>
          </a:prstGeom>
        </p:spPr>
      </p:pic>
      <p:sp>
        <p:nvSpPr>
          <p:cNvPr id="25" name="Text 19"/>
          <p:cNvSpPr/>
          <p:nvPr/>
        </p:nvSpPr>
        <p:spPr>
          <a:xfrm>
            <a:off x="1508760" y="4672584"/>
            <a:ext cx="640080" cy="804672"/>
          </a:xfrm>
          <a:prstGeom prst="rect">
            <a:avLst/>
          </a:prstGeom>
          <a:noFill/>
          <a:ln/>
        </p:spPr>
        <p:txBody>
          <a:bodyPr wrap="square" rtlCol="0" anchor="ctr"/>
          <a:lstStyle/>
          <a:p>
            <a:pPr marL="0" indent="0">
              <a:buNone/>
            </a:pPr>
            <a:r>
              <a:rPr lang="en-US" sz="2000" b="1" dirty="0">
                <a:solidFill>
                  <a:srgbClr val="C7D2DB"/>
                </a:solidFill>
                <a:latin typeface="Cambria" pitchFamily="34" charset="0"/>
                <a:ea typeface="Cambria" pitchFamily="34" charset="-122"/>
                <a:cs typeface="Cambria" pitchFamily="34" charset="-120"/>
              </a:rPr>
              <a:t>04</a:t>
            </a:r>
            <a:endParaRPr lang="en-US" sz="2000" dirty="0"/>
          </a:p>
        </p:txBody>
      </p:sp>
      <p:sp>
        <p:nvSpPr>
          <p:cNvPr id="26" name="Text 20"/>
          <p:cNvSpPr/>
          <p:nvPr/>
        </p:nvSpPr>
        <p:spPr>
          <a:xfrm>
            <a:off x="2240280" y="4745736"/>
            <a:ext cx="4206240" cy="365760"/>
          </a:xfrm>
          <a:prstGeom prst="rect">
            <a:avLst/>
          </a:prstGeom>
          <a:noFill/>
          <a:ln/>
        </p:spPr>
        <p:txBody>
          <a:bodyPr wrap="square" rtlCol="0" anchor="ctr"/>
          <a:lstStyle/>
          <a:p>
            <a:pPr marL="0" indent="0">
              <a:buNone/>
            </a:pPr>
            <a:r>
              <a:rPr lang="en-US" sz="1500" b="1" dirty="0">
                <a:solidFill>
                  <a:srgbClr val="142433"/>
                </a:solidFill>
                <a:latin typeface="Calibri" pitchFamily="34" charset="0"/>
                <a:ea typeface="Calibri" pitchFamily="34" charset="-122"/>
                <a:cs typeface="Calibri" pitchFamily="34" charset="-120"/>
              </a:rPr>
              <a:t>Threats at a Glance</a:t>
            </a:r>
            <a:endParaRPr lang="en-US" sz="1500" dirty="0"/>
          </a:p>
        </p:txBody>
      </p:sp>
      <p:sp>
        <p:nvSpPr>
          <p:cNvPr id="27" name="Text 21"/>
          <p:cNvSpPr/>
          <p:nvPr/>
        </p:nvSpPr>
        <p:spPr>
          <a:xfrm>
            <a:off x="2240280" y="5093208"/>
            <a:ext cx="9052560" cy="320040"/>
          </a:xfrm>
          <a:prstGeom prst="rect">
            <a:avLst/>
          </a:prstGeom>
          <a:noFill/>
          <a:ln/>
        </p:spPr>
        <p:txBody>
          <a:bodyPr wrap="square" rtlCol="0" anchor="ctr"/>
          <a:lstStyle/>
          <a:p>
            <a:pPr marL="0" indent="0">
              <a:buNone/>
            </a:pPr>
            <a:r>
              <a:rPr lang="en-US" sz="1150" dirty="0">
                <a:solidFill>
                  <a:srgbClr val="5C6B7A"/>
                </a:solidFill>
                <a:latin typeface="Calibri" pitchFamily="34" charset="0"/>
                <a:ea typeface="Calibri" pitchFamily="34" charset="-122"/>
                <a:cs typeface="Calibri" pitchFamily="34" charset="-120"/>
              </a:rPr>
              <a:t>A side-by-side comparison of every threat</a:t>
            </a:r>
            <a:endParaRPr lang="en-US" sz="1150" dirty="0"/>
          </a:p>
        </p:txBody>
      </p:sp>
      <p:sp>
        <p:nvSpPr>
          <p:cNvPr id="28" name="Shape 22"/>
          <p:cNvSpPr/>
          <p:nvPr/>
        </p:nvSpPr>
        <p:spPr>
          <a:xfrm>
            <a:off x="548640" y="5605272"/>
            <a:ext cx="11064240" cy="804672"/>
          </a:xfrm>
          <a:prstGeom prst="roundRect">
            <a:avLst>
              <a:gd name="adj" fmla="val 9091"/>
            </a:avLst>
          </a:prstGeom>
          <a:solidFill>
            <a:srgbClr val="F1F5F8"/>
          </a:solidFill>
          <a:ln/>
        </p:spPr>
      </p:sp>
      <p:sp>
        <p:nvSpPr>
          <p:cNvPr id="29" name="Shape 23"/>
          <p:cNvSpPr/>
          <p:nvPr/>
        </p:nvSpPr>
        <p:spPr>
          <a:xfrm>
            <a:off x="777240" y="5742432"/>
            <a:ext cx="530352" cy="530352"/>
          </a:xfrm>
          <a:prstGeom prst="ellipse">
            <a:avLst/>
          </a:prstGeom>
          <a:solidFill>
            <a:srgbClr val="0B1F3A"/>
          </a:solidFill>
          <a:ln/>
        </p:spPr>
      </p:sp>
      <p:pic>
        <p:nvPicPr>
          <p:cNvPr id="30" name="Image 4" descr="grad.png"/>
          <p:cNvPicPr>
            <a:picLocks noChangeAspect="1"/>
          </p:cNvPicPr>
          <p:nvPr/>
        </p:nvPicPr>
        <p:blipFill>
          <a:blip r:embed="rId7"/>
          <a:stretch>
            <a:fillRect/>
          </a:stretch>
        </p:blipFill>
        <p:spPr>
          <a:xfrm>
            <a:off x="905256" y="5870448"/>
            <a:ext cx="274320" cy="274320"/>
          </a:xfrm>
          <a:prstGeom prst="rect">
            <a:avLst/>
          </a:prstGeom>
        </p:spPr>
      </p:pic>
      <p:sp>
        <p:nvSpPr>
          <p:cNvPr id="31" name="Text 24"/>
          <p:cNvSpPr/>
          <p:nvPr/>
        </p:nvSpPr>
        <p:spPr>
          <a:xfrm>
            <a:off x="1508760" y="5605272"/>
            <a:ext cx="640080" cy="804672"/>
          </a:xfrm>
          <a:prstGeom prst="rect">
            <a:avLst/>
          </a:prstGeom>
          <a:noFill/>
          <a:ln/>
        </p:spPr>
        <p:txBody>
          <a:bodyPr wrap="square" rtlCol="0" anchor="ctr"/>
          <a:lstStyle/>
          <a:p>
            <a:pPr marL="0" indent="0">
              <a:buNone/>
            </a:pPr>
            <a:r>
              <a:rPr lang="en-US" sz="2000" b="1" dirty="0">
                <a:solidFill>
                  <a:srgbClr val="C7D2DB"/>
                </a:solidFill>
                <a:latin typeface="Cambria" pitchFamily="34" charset="0"/>
                <a:ea typeface="Cambria" pitchFamily="34" charset="-122"/>
                <a:cs typeface="Cambria" pitchFamily="34" charset="-120"/>
              </a:rPr>
              <a:t>05</a:t>
            </a:r>
            <a:endParaRPr lang="en-US" sz="2000" dirty="0"/>
          </a:p>
        </p:txBody>
      </p:sp>
      <p:sp>
        <p:nvSpPr>
          <p:cNvPr id="32" name="Text 25"/>
          <p:cNvSpPr/>
          <p:nvPr/>
        </p:nvSpPr>
        <p:spPr>
          <a:xfrm>
            <a:off x="2240280" y="5678424"/>
            <a:ext cx="4206240" cy="365760"/>
          </a:xfrm>
          <a:prstGeom prst="rect">
            <a:avLst/>
          </a:prstGeom>
          <a:noFill/>
          <a:ln/>
        </p:spPr>
        <p:txBody>
          <a:bodyPr wrap="square" rtlCol="0" anchor="ctr"/>
          <a:lstStyle/>
          <a:p>
            <a:pPr marL="0" indent="0">
              <a:buNone/>
            </a:pPr>
            <a:r>
              <a:rPr lang="en-US" sz="1500" b="1" dirty="0">
                <a:solidFill>
                  <a:srgbClr val="142433"/>
                </a:solidFill>
                <a:latin typeface="Calibri" pitchFamily="34" charset="0"/>
                <a:ea typeface="Calibri" pitchFamily="34" charset="-122"/>
                <a:cs typeface="Calibri" pitchFamily="34" charset="-120"/>
              </a:rPr>
              <a:t>Conclusion &amp; Future Scope</a:t>
            </a:r>
            <a:endParaRPr lang="en-US" sz="1500" dirty="0"/>
          </a:p>
        </p:txBody>
      </p:sp>
      <p:sp>
        <p:nvSpPr>
          <p:cNvPr id="33" name="Text 26"/>
          <p:cNvSpPr/>
          <p:nvPr/>
        </p:nvSpPr>
        <p:spPr>
          <a:xfrm>
            <a:off x="2240280" y="6025896"/>
            <a:ext cx="9052560" cy="320040"/>
          </a:xfrm>
          <a:prstGeom prst="rect">
            <a:avLst/>
          </a:prstGeom>
          <a:noFill/>
          <a:ln/>
        </p:spPr>
        <p:txBody>
          <a:bodyPr wrap="square" rtlCol="0" anchor="ctr"/>
          <a:lstStyle/>
          <a:p>
            <a:pPr marL="0" indent="0">
              <a:buNone/>
            </a:pPr>
            <a:r>
              <a:rPr lang="en-US" sz="1150" dirty="0">
                <a:solidFill>
                  <a:srgbClr val="5C6B7A"/>
                </a:solidFill>
                <a:latin typeface="Calibri" pitchFamily="34" charset="0"/>
                <a:ea typeface="Calibri" pitchFamily="34" charset="-122"/>
                <a:cs typeface="Calibri" pitchFamily="34" charset="-120"/>
              </a:rPr>
              <a:t>Why proactive security and continuous learning matter</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rtlCol="0" anchor="ctr"/>
          <a:lstStyle/>
          <a:p>
            <a:pPr marL="0" indent="0">
              <a:buNone/>
            </a:pPr>
            <a:r>
              <a:rPr lang="en-US" sz="3200" b="1" dirty="0">
                <a:solidFill>
                  <a:srgbClr val="142433"/>
                </a:solidFill>
                <a:latin typeface="Cambria" pitchFamily="34" charset="0"/>
                <a:ea typeface="Cambria" pitchFamily="34" charset="-122"/>
                <a:cs typeface="Cambria" pitchFamily="34" charset="-120"/>
              </a:rPr>
              <a:t>What Is Cybersecurity?</a:t>
            </a:r>
            <a:endParaRPr lang="en-US" sz="3200" dirty="0"/>
          </a:p>
        </p:txBody>
      </p:sp>
      <p:sp>
        <p:nvSpPr>
          <p:cNvPr id="3" name="Text 1"/>
          <p:cNvSpPr/>
          <p:nvPr/>
        </p:nvSpPr>
        <p:spPr>
          <a:xfrm>
            <a:off x="548640" y="1143000"/>
            <a:ext cx="5760720" cy="1554480"/>
          </a:xfrm>
          <a:prstGeom prst="rect">
            <a:avLst/>
          </a:prstGeom>
          <a:noFill/>
          <a:ln/>
        </p:spPr>
        <p:txBody>
          <a:bodyPr wrap="square" rtlCol="0" anchor="ctr"/>
          <a:lstStyle/>
          <a:p>
            <a:pPr marL="0" indent="0">
              <a:lnSpc>
                <a:spcPct val="125000"/>
              </a:lnSpc>
              <a:buNone/>
            </a:pPr>
            <a:r>
              <a:rPr lang="en-US" sz="1450" dirty="0">
                <a:solidFill>
                  <a:srgbClr val="5C6B7A"/>
                </a:solidFill>
                <a:latin typeface="Calibri" pitchFamily="34" charset="0"/>
                <a:ea typeface="Calibri" pitchFamily="34" charset="-122"/>
                <a:cs typeface="Calibri" pitchFamily="34" charset="-120"/>
              </a:rPr>
              <a:t>Cybersecurity is the practice of protecting networks, systems, devices, and data from digital attacks, unauthorized access, damage, or theft. It combines technology, processes, and people to defend the confidentiality, integrity, and availability of information.</a:t>
            </a:r>
            <a:endParaRPr lang="en-US" sz="1450" dirty="0"/>
          </a:p>
        </p:txBody>
      </p:sp>
      <p:sp>
        <p:nvSpPr>
          <p:cNvPr id="4" name="Shape 2"/>
          <p:cNvSpPr/>
          <p:nvPr/>
        </p:nvSpPr>
        <p:spPr>
          <a:xfrm>
            <a:off x="6720840" y="1051560"/>
            <a:ext cx="4892040" cy="1920240"/>
          </a:xfrm>
          <a:prstGeom prst="roundRect">
            <a:avLst>
              <a:gd name="adj" fmla="val 5714"/>
            </a:avLst>
          </a:prstGeom>
          <a:solidFill>
            <a:srgbClr val="0B1F3A"/>
          </a:solidFill>
          <a:ln/>
        </p:spPr>
      </p:sp>
      <p:pic>
        <p:nvPicPr>
          <p:cNvPr id="5" name="Image 0" descr="shield.png"/>
          <p:cNvPicPr>
            <a:picLocks noChangeAspect="1"/>
          </p:cNvPicPr>
          <p:nvPr/>
        </p:nvPicPr>
        <p:blipFill>
          <a:blip r:embed="rId3"/>
          <a:stretch>
            <a:fillRect/>
          </a:stretch>
        </p:blipFill>
        <p:spPr>
          <a:xfrm>
            <a:off x="6995160" y="1417320"/>
            <a:ext cx="960120" cy="960120"/>
          </a:xfrm>
          <a:prstGeom prst="rect">
            <a:avLst/>
          </a:prstGeom>
        </p:spPr>
      </p:pic>
      <p:sp>
        <p:nvSpPr>
          <p:cNvPr id="6" name="Text 3"/>
          <p:cNvSpPr/>
          <p:nvPr/>
        </p:nvSpPr>
        <p:spPr>
          <a:xfrm>
            <a:off x="8092440" y="1417320"/>
            <a:ext cx="3337560" cy="12801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Confidentiality  ·  Integrity  ·  Availability
</a:t>
            </a:r>
            <a:r>
              <a:rPr lang="en-US" sz="1250" dirty="0">
                <a:solidFill>
                  <a:srgbClr val="AFC3D6"/>
                </a:solidFill>
                <a:latin typeface="Calibri" pitchFamily="34" charset="0"/>
                <a:ea typeface="Calibri" pitchFamily="34" charset="-122"/>
                <a:cs typeface="Calibri" pitchFamily="34" charset="-120"/>
              </a:rPr>
              <a:t>The three pillars every security control is built to protect.</a:t>
            </a:r>
            <a:endParaRPr lang="en-US" sz="1500" dirty="0"/>
          </a:p>
        </p:txBody>
      </p:sp>
      <p:sp>
        <p:nvSpPr>
          <p:cNvPr id="7" name="Text 4"/>
          <p:cNvSpPr/>
          <p:nvPr/>
        </p:nvSpPr>
        <p:spPr>
          <a:xfrm>
            <a:off x="548640" y="2880360"/>
            <a:ext cx="5486400" cy="457200"/>
          </a:xfrm>
          <a:prstGeom prst="rect">
            <a:avLst/>
          </a:prstGeom>
          <a:noFill/>
          <a:ln/>
        </p:spPr>
        <p:txBody>
          <a:bodyPr wrap="square" rtlCol="0" anchor="ctr"/>
          <a:lstStyle/>
          <a:p>
            <a:pPr marL="0" indent="0">
              <a:buNone/>
            </a:pPr>
            <a:r>
              <a:rPr lang="en-US" sz="2000" b="1" dirty="0">
                <a:solidFill>
                  <a:srgbClr val="142433"/>
                </a:solidFill>
                <a:latin typeface="Cambria" pitchFamily="34" charset="0"/>
                <a:ea typeface="Cambria" pitchFamily="34" charset="-122"/>
                <a:cs typeface="Cambria" pitchFamily="34" charset="-120"/>
              </a:rPr>
              <a:t>Why It Matters</a:t>
            </a:r>
            <a:endParaRPr lang="en-US" sz="2000" dirty="0"/>
          </a:p>
        </p:txBody>
      </p:sp>
      <p:sp>
        <p:nvSpPr>
          <p:cNvPr id="8" name="Shape 5"/>
          <p:cNvSpPr/>
          <p:nvPr/>
        </p:nvSpPr>
        <p:spPr>
          <a:xfrm>
            <a:off x="548640" y="3520440"/>
            <a:ext cx="502920" cy="502920"/>
          </a:xfrm>
          <a:prstGeom prst="ellipse">
            <a:avLst/>
          </a:prstGeom>
          <a:solidFill>
            <a:srgbClr val="00B4D8"/>
          </a:solidFill>
          <a:ln/>
        </p:spPr>
      </p:sp>
      <p:pic>
        <p:nvPicPr>
          <p:cNvPr id="9" name="Image 1" descr="user.png"/>
          <p:cNvPicPr>
            <a:picLocks noChangeAspect="1"/>
          </p:cNvPicPr>
          <p:nvPr/>
        </p:nvPicPr>
        <p:blipFill>
          <a:blip r:embed="rId4"/>
          <a:stretch>
            <a:fillRect/>
          </a:stretch>
        </p:blipFill>
        <p:spPr>
          <a:xfrm>
            <a:off x="658368" y="3630168"/>
            <a:ext cx="283464" cy="283464"/>
          </a:xfrm>
          <a:prstGeom prst="rect">
            <a:avLst/>
          </a:prstGeom>
        </p:spPr>
      </p:pic>
      <p:sp>
        <p:nvSpPr>
          <p:cNvPr id="10" name="Text 6"/>
          <p:cNvSpPr/>
          <p:nvPr/>
        </p:nvSpPr>
        <p:spPr>
          <a:xfrm>
            <a:off x="1188720" y="3474720"/>
            <a:ext cx="4846320" cy="320040"/>
          </a:xfrm>
          <a:prstGeom prst="rect">
            <a:avLst/>
          </a:prstGeom>
          <a:noFill/>
          <a:ln/>
        </p:spPr>
        <p:txBody>
          <a:bodyPr wrap="square" rtlCol="0" anchor="ctr"/>
          <a:lstStyle/>
          <a:p>
            <a:pPr marL="0" indent="0">
              <a:buNone/>
            </a:pPr>
            <a:r>
              <a:rPr lang="en-US" sz="1450" b="1" dirty="0">
                <a:solidFill>
                  <a:srgbClr val="142433"/>
                </a:solidFill>
                <a:latin typeface="Calibri" pitchFamily="34" charset="0"/>
                <a:ea typeface="Calibri" pitchFamily="34" charset="-122"/>
                <a:cs typeface="Calibri" pitchFamily="34" charset="-120"/>
              </a:rPr>
              <a:t>For Individuals</a:t>
            </a:r>
            <a:endParaRPr lang="en-US" sz="1450" dirty="0"/>
          </a:p>
        </p:txBody>
      </p:sp>
      <p:sp>
        <p:nvSpPr>
          <p:cNvPr id="11" name="Text 7"/>
          <p:cNvSpPr/>
          <p:nvPr/>
        </p:nvSpPr>
        <p:spPr>
          <a:xfrm>
            <a:off x="1188720" y="3794760"/>
            <a:ext cx="4846320" cy="731520"/>
          </a:xfrm>
          <a:prstGeom prst="rect">
            <a:avLst/>
          </a:prstGeom>
          <a:noFill/>
          <a:ln/>
        </p:spPr>
        <p:txBody>
          <a:bodyPr wrap="square" rtlCol="0" anchor="ctr"/>
          <a:lstStyle/>
          <a:p>
            <a:pPr marL="0" indent="0">
              <a:lnSpc>
                <a:spcPct val="115000"/>
              </a:lnSpc>
              <a:buNone/>
            </a:pPr>
            <a:r>
              <a:rPr lang="en-US" sz="1200" dirty="0">
                <a:solidFill>
                  <a:srgbClr val="5C6B7A"/>
                </a:solidFill>
                <a:latin typeface="Calibri" pitchFamily="34" charset="0"/>
                <a:ea typeface="Calibri" pitchFamily="34" charset="-122"/>
                <a:cs typeface="Calibri" pitchFamily="34" charset="-120"/>
              </a:rPr>
              <a:t>Protects personal data, finances, identity, and privacy from theft and fraud.</a:t>
            </a:r>
            <a:endParaRPr lang="en-US" sz="1200" dirty="0"/>
          </a:p>
        </p:txBody>
      </p:sp>
      <p:sp>
        <p:nvSpPr>
          <p:cNvPr id="12" name="Shape 8"/>
          <p:cNvSpPr/>
          <p:nvPr/>
        </p:nvSpPr>
        <p:spPr>
          <a:xfrm>
            <a:off x="6126480" y="3520440"/>
            <a:ext cx="502920" cy="502920"/>
          </a:xfrm>
          <a:prstGeom prst="ellipse">
            <a:avLst/>
          </a:prstGeom>
          <a:solidFill>
            <a:srgbClr val="00B4D8"/>
          </a:solidFill>
          <a:ln/>
        </p:spPr>
      </p:sp>
      <p:pic>
        <p:nvPicPr>
          <p:cNvPr id="13" name="Image 2" descr="building.png"/>
          <p:cNvPicPr>
            <a:picLocks noChangeAspect="1"/>
          </p:cNvPicPr>
          <p:nvPr/>
        </p:nvPicPr>
        <p:blipFill>
          <a:blip r:embed="rId5"/>
          <a:stretch>
            <a:fillRect/>
          </a:stretch>
        </p:blipFill>
        <p:spPr>
          <a:xfrm>
            <a:off x="6236208" y="3630168"/>
            <a:ext cx="283464" cy="283464"/>
          </a:xfrm>
          <a:prstGeom prst="rect">
            <a:avLst/>
          </a:prstGeom>
        </p:spPr>
      </p:pic>
      <p:sp>
        <p:nvSpPr>
          <p:cNvPr id="14" name="Text 9"/>
          <p:cNvSpPr/>
          <p:nvPr/>
        </p:nvSpPr>
        <p:spPr>
          <a:xfrm>
            <a:off x="6766560" y="3474720"/>
            <a:ext cx="4846320" cy="320040"/>
          </a:xfrm>
          <a:prstGeom prst="rect">
            <a:avLst/>
          </a:prstGeom>
          <a:noFill/>
          <a:ln/>
        </p:spPr>
        <p:txBody>
          <a:bodyPr wrap="square" rtlCol="0" anchor="ctr"/>
          <a:lstStyle/>
          <a:p>
            <a:pPr marL="0" indent="0">
              <a:buNone/>
            </a:pPr>
            <a:r>
              <a:rPr lang="en-US" sz="1450" b="1" dirty="0">
                <a:solidFill>
                  <a:srgbClr val="142433"/>
                </a:solidFill>
                <a:latin typeface="Calibri" pitchFamily="34" charset="0"/>
                <a:ea typeface="Calibri" pitchFamily="34" charset="-122"/>
                <a:cs typeface="Calibri" pitchFamily="34" charset="-120"/>
              </a:rPr>
              <a:t>For Businesses</a:t>
            </a:r>
            <a:endParaRPr lang="en-US" sz="1450" dirty="0"/>
          </a:p>
        </p:txBody>
      </p:sp>
      <p:sp>
        <p:nvSpPr>
          <p:cNvPr id="15" name="Text 10"/>
          <p:cNvSpPr/>
          <p:nvPr/>
        </p:nvSpPr>
        <p:spPr>
          <a:xfrm>
            <a:off x="6766560" y="3794760"/>
            <a:ext cx="4846320" cy="731520"/>
          </a:xfrm>
          <a:prstGeom prst="rect">
            <a:avLst/>
          </a:prstGeom>
          <a:noFill/>
          <a:ln/>
        </p:spPr>
        <p:txBody>
          <a:bodyPr wrap="square" rtlCol="0" anchor="ctr"/>
          <a:lstStyle/>
          <a:p>
            <a:pPr marL="0" indent="0">
              <a:lnSpc>
                <a:spcPct val="115000"/>
              </a:lnSpc>
              <a:buNone/>
            </a:pPr>
            <a:r>
              <a:rPr lang="en-US" sz="1200" dirty="0">
                <a:solidFill>
                  <a:srgbClr val="5C6B7A"/>
                </a:solidFill>
                <a:latin typeface="Calibri" pitchFamily="34" charset="0"/>
                <a:ea typeface="Calibri" pitchFamily="34" charset="-122"/>
                <a:cs typeface="Calibri" pitchFamily="34" charset="-120"/>
              </a:rPr>
              <a:t>Safeguards intellectual property, customer trust, operations, and legal standing.</a:t>
            </a:r>
            <a:endParaRPr lang="en-US" sz="1200" dirty="0"/>
          </a:p>
        </p:txBody>
      </p:sp>
      <p:sp>
        <p:nvSpPr>
          <p:cNvPr id="16" name="Shape 11"/>
          <p:cNvSpPr/>
          <p:nvPr/>
        </p:nvSpPr>
        <p:spPr>
          <a:xfrm>
            <a:off x="548640" y="5074920"/>
            <a:ext cx="11064240" cy="1234440"/>
          </a:xfrm>
          <a:prstGeom prst="roundRect">
            <a:avLst>
              <a:gd name="adj" fmla="val 7407"/>
            </a:avLst>
          </a:prstGeom>
          <a:solidFill>
            <a:srgbClr val="F1F5F8"/>
          </a:solidFill>
          <a:ln/>
        </p:spPr>
      </p:sp>
      <p:pic>
        <p:nvPicPr>
          <p:cNvPr id="17" name="Image 3" descr="warning.png"/>
          <p:cNvPicPr>
            <a:picLocks noChangeAspect="1"/>
          </p:cNvPicPr>
          <p:nvPr/>
        </p:nvPicPr>
        <p:blipFill>
          <a:blip r:embed="rId6"/>
          <a:stretch>
            <a:fillRect/>
          </a:stretch>
        </p:blipFill>
        <p:spPr>
          <a:xfrm>
            <a:off x="822960" y="5394960"/>
            <a:ext cx="548640" cy="548640"/>
          </a:xfrm>
          <a:prstGeom prst="rect">
            <a:avLst/>
          </a:prstGeom>
        </p:spPr>
      </p:pic>
      <p:sp>
        <p:nvSpPr>
          <p:cNvPr id="18" name="Text 12"/>
          <p:cNvSpPr/>
          <p:nvPr/>
        </p:nvSpPr>
        <p:spPr>
          <a:xfrm>
            <a:off x="1600200" y="5257800"/>
            <a:ext cx="9784080" cy="960120"/>
          </a:xfrm>
          <a:prstGeom prst="rect">
            <a:avLst/>
          </a:prstGeom>
          <a:noFill/>
          <a:ln/>
        </p:spPr>
        <p:txBody>
          <a:bodyPr wrap="square" rtlCol="0" anchor="ctr"/>
          <a:lstStyle/>
          <a:p>
            <a:pPr marL="0" indent="0">
              <a:lnSpc>
                <a:spcPct val="120000"/>
              </a:lnSpc>
              <a:buNone/>
            </a:pPr>
            <a:r>
              <a:rPr lang="en-US" sz="1300" b="1" dirty="0">
                <a:solidFill>
                  <a:srgbClr val="142433"/>
                </a:solidFill>
                <a:latin typeface="Calibri" pitchFamily="34" charset="0"/>
                <a:ea typeface="Calibri" pitchFamily="34" charset="-122"/>
                <a:cs typeface="Calibri" pitchFamily="34" charset="-120"/>
              </a:rPr>
              <a:t>Current Relevance:  </a:t>
            </a:r>
            <a:r>
              <a:rPr lang="en-US" sz="1300" dirty="0">
                <a:solidFill>
                  <a:srgbClr val="5C6B7A"/>
                </a:solidFill>
                <a:latin typeface="Calibri" pitchFamily="34" charset="0"/>
                <a:ea typeface="Calibri" pitchFamily="34" charset="-122"/>
                <a:cs typeface="Calibri" pitchFamily="34" charset="-120"/>
              </a:rPr>
              <a:t>Cybercrime is rising sharply as digital dependency deepens and AI gives attackers powerful new tools — from deepfake voices to automated malware generation.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 Threat Landscape Growing Faster Than Ever</a:t>
            </a:r>
            <a:endParaRPr lang="en-US" sz="2800" dirty="0"/>
          </a:p>
        </p:txBody>
      </p:sp>
      <p:sp>
        <p:nvSpPr>
          <p:cNvPr id="3" name="Text 1"/>
          <p:cNvSpPr/>
          <p:nvPr/>
        </p:nvSpPr>
        <p:spPr>
          <a:xfrm>
            <a:off x="548640" y="1051560"/>
            <a:ext cx="9144000" cy="365760"/>
          </a:xfrm>
          <a:prstGeom prst="rect">
            <a:avLst/>
          </a:prstGeom>
          <a:noFill/>
          <a:ln/>
        </p:spPr>
        <p:txBody>
          <a:bodyPr wrap="square" rtlCol="0" anchor="ctr"/>
          <a:lstStyle/>
          <a:p>
            <a:pPr marL="0" indent="0">
              <a:buNone/>
            </a:pPr>
            <a:r>
              <a:rPr lang="en-US" sz="1400" i="1" dirty="0">
                <a:solidFill>
                  <a:srgbClr val="AFC3D6"/>
                </a:solidFill>
                <a:latin typeface="Calibri" pitchFamily="34" charset="0"/>
                <a:ea typeface="Calibri" pitchFamily="34" charset="-122"/>
                <a:cs typeface="Calibri" pitchFamily="34" charset="-120"/>
              </a:rPr>
              <a:t>Three forces are driving today's surge in cyber risk</a:t>
            </a:r>
            <a:endParaRPr lang="en-US" sz="1400" dirty="0"/>
          </a:p>
        </p:txBody>
      </p:sp>
      <p:sp>
        <p:nvSpPr>
          <p:cNvPr id="4" name="Shape 2"/>
          <p:cNvSpPr/>
          <p:nvPr/>
        </p:nvSpPr>
        <p:spPr>
          <a:xfrm>
            <a:off x="548640" y="1828800"/>
            <a:ext cx="3566160" cy="2834640"/>
          </a:xfrm>
          <a:prstGeom prst="roundRect">
            <a:avLst>
              <a:gd name="adj" fmla="val 3871"/>
            </a:avLst>
          </a:prstGeom>
          <a:solidFill>
            <a:srgbClr val="13293D"/>
          </a:solidFill>
          <a:ln/>
        </p:spPr>
      </p:sp>
      <p:sp>
        <p:nvSpPr>
          <p:cNvPr id="5" name="Text 3"/>
          <p:cNvSpPr/>
          <p:nvPr/>
        </p:nvSpPr>
        <p:spPr>
          <a:xfrm>
            <a:off x="777240" y="2057400"/>
            <a:ext cx="3108960" cy="914400"/>
          </a:xfrm>
          <a:prstGeom prst="rect">
            <a:avLst/>
          </a:prstGeom>
          <a:noFill/>
          <a:ln/>
        </p:spPr>
        <p:txBody>
          <a:bodyPr wrap="square" rtlCol="0" anchor="ctr"/>
          <a:lstStyle/>
          <a:p>
            <a:pPr marL="0" indent="0">
              <a:buNone/>
            </a:pPr>
            <a:r>
              <a:rPr lang="en-US" sz="3400" b="1" dirty="0">
                <a:solidFill>
                  <a:srgbClr val="00B4D8"/>
                </a:solidFill>
                <a:latin typeface="Cambria" pitchFamily="34" charset="0"/>
                <a:ea typeface="Cambria" pitchFamily="34" charset="-122"/>
                <a:cs typeface="Cambria" pitchFamily="34" charset="-120"/>
              </a:rPr>
              <a:t>$10.5T</a:t>
            </a:r>
            <a:endParaRPr lang="en-US" sz="3400" dirty="0"/>
          </a:p>
        </p:txBody>
      </p:sp>
      <p:sp>
        <p:nvSpPr>
          <p:cNvPr id="6" name="Text 4"/>
          <p:cNvSpPr/>
          <p:nvPr/>
        </p:nvSpPr>
        <p:spPr>
          <a:xfrm>
            <a:off x="777240" y="3063240"/>
            <a:ext cx="3108960" cy="1463040"/>
          </a:xfrm>
          <a:prstGeom prst="rect">
            <a:avLst/>
          </a:prstGeom>
          <a:noFill/>
          <a:ln/>
        </p:spPr>
        <p:txBody>
          <a:bodyPr wrap="square" rtlCol="0" anchor="ctr"/>
          <a:lstStyle/>
          <a:p>
            <a:pPr marL="0" indent="0">
              <a:lnSpc>
                <a:spcPct val="125000"/>
              </a:lnSpc>
              <a:buNone/>
            </a:pPr>
            <a:r>
              <a:rPr lang="en-US" sz="1250" dirty="0">
                <a:solidFill>
                  <a:srgbClr val="D6E2ED"/>
                </a:solidFill>
                <a:latin typeface="Calibri" pitchFamily="34" charset="0"/>
                <a:ea typeface="Calibri" pitchFamily="34" charset="-122"/>
                <a:cs typeface="Calibri" pitchFamily="34" charset="-120"/>
              </a:rPr>
              <a:t>Projected annual global cost of cybercrime by 2025, up from $3T in 2015 (Cybersecurity Ventures)</a:t>
            </a:r>
            <a:endParaRPr lang="en-US" sz="1250" dirty="0"/>
          </a:p>
        </p:txBody>
      </p:sp>
      <p:sp>
        <p:nvSpPr>
          <p:cNvPr id="7" name="Shape 5"/>
          <p:cNvSpPr/>
          <p:nvPr/>
        </p:nvSpPr>
        <p:spPr>
          <a:xfrm>
            <a:off x="4434840" y="1828800"/>
            <a:ext cx="3566160" cy="2834640"/>
          </a:xfrm>
          <a:prstGeom prst="roundRect">
            <a:avLst>
              <a:gd name="adj" fmla="val 3871"/>
            </a:avLst>
          </a:prstGeom>
          <a:solidFill>
            <a:srgbClr val="13293D"/>
          </a:solidFill>
          <a:ln/>
        </p:spPr>
      </p:sp>
      <p:sp>
        <p:nvSpPr>
          <p:cNvPr id="8" name="Text 6"/>
          <p:cNvSpPr/>
          <p:nvPr/>
        </p:nvSpPr>
        <p:spPr>
          <a:xfrm>
            <a:off x="4663440" y="2057400"/>
            <a:ext cx="3108960" cy="914400"/>
          </a:xfrm>
          <a:prstGeom prst="rect">
            <a:avLst/>
          </a:prstGeom>
          <a:noFill/>
          <a:ln/>
        </p:spPr>
        <p:txBody>
          <a:bodyPr wrap="square" rtlCol="0" anchor="ctr"/>
          <a:lstStyle/>
          <a:p>
            <a:pPr marL="0" indent="0">
              <a:buNone/>
            </a:pPr>
            <a:r>
              <a:rPr lang="en-US" sz="3400" b="1" dirty="0">
                <a:solidFill>
                  <a:srgbClr val="00B4D8"/>
                </a:solidFill>
                <a:latin typeface="Cambria" pitchFamily="34" charset="0"/>
                <a:ea typeface="Cambria" pitchFamily="34" charset="-122"/>
                <a:cs typeface="Cambria" pitchFamily="34" charset="-120"/>
              </a:rPr>
              <a:t>24B+</a:t>
            </a:r>
            <a:endParaRPr lang="en-US" sz="3400" dirty="0"/>
          </a:p>
        </p:txBody>
      </p:sp>
      <p:sp>
        <p:nvSpPr>
          <p:cNvPr id="9" name="Text 7"/>
          <p:cNvSpPr/>
          <p:nvPr/>
        </p:nvSpPr>
        <p:spPr>
          <a:xfrm>
            <a:off x="4663440" y="3063240"/>
            <a:ext cx="3108960" cy="1463040"/>
          </a:xfrm>
          <a:prstGeom prst="rect">
            <a:avLst/>
          </a:prstGeom>
          <a:noFill/>
          <a:ln/>
        </p:spPr>
        <p:txBody>
          <a:bodyPr wrap="square" rtlCol="0" anchor="ctr"/>
          <a:lstStyle/>
          <a:p>
            <a:pPr marL="0" indent="0">
              <a:lnSpc>
                <a:spcPct val="125000"/>
              </a:lnSpc>
              <a:buNone/>
            </a:pPr>
            <a:r>
              <a:rPr lang="en-US" sz="1250" dirty="0">
                <a:solidFill>
                  <a:srgbClr val="D6E2ED"/>
                </a:solidFill>
                <a:latin typeface="Calibri" pitchFamily="34" charset="0"/>
                <a:ea typeface="Calibri" pitchFamily="34" charset="-122"/>
                <a:cs typeface="Calibri" pitchFamily="34" charset="-120"/>
              </a:rPr>
              <a:t>Connected IoT and smart devices in use worldwide, each a potential entry point for attackers</a:t>
            </a:r>
            <a:endParaRPr lang="en-US" sz="1250" dirty="0"/>
          </a:p>
        </p:txBody>
      </p:sp>
      <p:sp>
        <p:nvSpPr>
          <p:cNvPr id="10" name="Shape 8"/>
          <p:cNvSpPr/>
          <p:nvPr/>
        </p:nvSpPr>
        <p:spPr>
          <a:xfrm>
            <a:off x="8321040" y="1828800"/>
            <a:ext cx="3566160" cy="2834640"/>
          </a:xfrm>
          <a:prstGeom prst="roundRect">
            <a:avLst>
              <a:gd name="adj" fmla="val 3871"/>
            </a:avLst>
          </a:prstGeom>
          <a:solidFill>
            <a:srgbClr val="13293D"/>
          </a:solidFill>
          <a:ln/>
        </p:spPr>
      </p:sp>
      <p:sp>
        <p:nvSpPr>
          <p:cNvPr id="11" name="Text 9"/>
          <p:cNvSpPr/>
          <p:nvPr/>
        </p:nvSpPr>
        <p:spPr>
          <a:xfrm>
            <a:off x="8549640" y="2057400"/>
            <a:ext cx="3108960" cy="914400"/>
          </a:xfrm>
          <a:prstGeom prst="rect">
            <a:avLst/>
          </a:prstGeom>
          <a:noFill/>
          <a:ln/>
        </p:spPr>
        <p:txBody>
          <a:bodyPr wrap="square" rtlCol="0" anchor="ctr"/>
          <a:lstStyle/>
          <a:p>
            <a:pPr marL="0" indent="0">
              <a:buNone/>
            </a:pPr>
            <a:r>
              <a:rPr lang="en-US" sz="3400" b="1" dirty="0">
                <a:solidFill>
                  <a:srgbClr val="00B4D8"/>
                </a:solidFill>
                <a:latin typeface="Cambria" pitchFamily="34" charset="0"/>
                <a:ea typeface="Cambria" pitchFamily="34" charset="-122"/>
                <a:cs typeface="Cambria" pitchFamily="34" charset="-120"/>
              </a:rPr>
              <a:t>AI-driven</a:t>
            </a:r>
            <a:endParaRPr lang="en-US" sz="3400" dirty="0"/>
          </a:p>
        </p:txBody>
      </p:sp>
      <p:sp>
        <p:nvSpPr>
          <p:cNvPr id="12" name="Text 10"/>
          <p:cNvSpPr/>
          <p:nvPr/>
        </p:nvSpPr>
        <p:spPr>
          <a:xfrm>
            <a:off x="8549640" y="3063240"/>
            <a:ext cx="3108960" cy="1463040"/>
          </a:xfrm>
          <a:prstGeom prst="rect">
            <a:avLst/>
          </a:prstGeom>
          <a:noFill/>
          <a:ln/>
        </p:spPr>
        <p:txBody>
          <a:bodyPr wrap="square" rtlCol="0" anchor="ctr"/>
          <a:lstStyle/>
          <a:p>
            <a:pPr marL="0" indent="0">
              <a:lnSpc>
                <a:spcPct val="125000"/>
              </a:lnSpc>
              <a:buNone/>
            </a:pPr>
            <a:r>
              <a:rPr lang="en-US" sz="1250" dirty="0">
                <a:solidFill>
                  <a:srgbClr val="D6E2ED"/>
                </a:solidFill>
                <a:latin typeface="Calibri" pitchFamily="34" charset="0"/>
                <a:ea typeface="Calibri" pitchFamily="34" charset="-122"/>
                <a:cs typeface="Calibri" pitchFamily="34" charset="-120"/>
              </a:rPr>
              <a:t>Phishing, deepfakes and malware generation are making attacks faster, cheaper, and harder to spot</a:t>
            </a:r>
            <a:endParaRPr lang="en-US" sz="1250" dirty="0"/>
          </a:p>
        </p:txBody>
      </p:sp>
      <p:sp>
        <p:nvSpPr>
          <p:cNvPr id="13" name="Text 11"/>
          <p:cNvSpPr/>
          <p:nvPr/>
        </p:nvSpPr>
        <p:spPr>
          <a:xfrm>
            <a:off x="548640" y="5029200"/>
            <a:ext cx="11064240" cy="1280160"/>
          </a:xfrm>
          <a:prstGeom prst="rect">
            <a:avLst/>
          </a:prstGeom>
          <a:noFill/>
          <a:ln/>
        </p:spPr>
        <p:txBody>
          <a:bodyPr wrap="square" rtlCol="0" anchor="ctr"/>
          <a:lstStyle/>
          <a:p>
            <a:pPr marL="0" indent="0">
              <a:lnSpc>
                <a:spcPct val="130000"/>
              </a:lnSpc>
              <a:buNone/>
            </a:pPr>
            <a:r>
              <a:rPr lang="en-US" sz="1350" i="1" dirty="0">
                <a:solidFill>
                  <a:srgbClr val="AFC3D6"/>
                </a:solidFill>
                <a:latin typeface="Calibri" pitchFamily="34" charset="0"/>
                <a:ea typeface="Calibri" pitchFamily="34" charset="-122"/>
                <a:cs typeface="Calibri" pitchFamily="34" charset="-120"/>
              </a:rPr>
              <a:t>Digital dependency — remote work, cloud services, mobile banking, and connected homes — has expanded the attack surface for every individual and organization, while AI tools lower the skill barrier for attackers.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058400" cy="640080"/>
          </a:xfrm>
          <a:prstGeom prst="rect">
            <a:avLst/>
          </a:prstGeom>
          <a:noFill/>
          <a:ln/>
        </p:spPr>
        <p:txBody>
          <a:bodyPr wrap="square" rtlCol="0" anchor="ctr"/>
          <a:lstStyle/>
          <a:p>
            <a:pPr marL="0" indent="0">
              <a:buNone/>
            </a:pPr>
            <a:r>
              <a:rPr lang="en-US" sz="3000" b="1" dirty="0">
                <a:solidFill>
                  <a:srgbClr val="142433"/>
                </a:solidFill>
                <a:latin typeface="Cambria" pitchFamily="34" charset="0"/>
                <a:ea typeface="Cambria" pitchFamily="34" charset="-122"/>
                <a:cs typeface="Cambria" pitchFamily="34" charset="-120"/>
              </a:rPr>
              <a:t>5 Major Modern Cyber Threats</a:t>
            </a:r>
            <a:endParaRPr lang="en-US" sz="3000" dirty="0"/>
          </a:p>
        </p:txBody>
      </p:sp>
      <p:sp>
        <p:nvSpPr>
          <p:cNvPr id="3" name="Text 1"/>
          <p:cNvSpPr/>
          <p:nvPr/>
        </p:nvSpPr>
        <p:spPr>
          <a:xfrm>
            <a:off x="548640" y="1051560"/>
            <a:ext cx="9144000" cy="365760"/>
          </a:xfrm>
          <a:prstGeom prst="rect">
            <a:avLst/>
          </a:prstGeom>
          <a:noFill/>
          <a:ln/>
        </p:spPr>
        <p:txBody>
          <a:bodyPr wrap="square" rtlCol="0" anchor="ctr"/>
          <a:lstStyle/>
          <a:p>
            <a:pPr marL="0" indent="0">
              <a:buNone/>
            </a:pPr>
            <a:r>
              <a:rPr lang="en-US" sz="1350" i="1" dirty="0">
                <a:solidFill>
                  <a:srgbClr val="5C6B7A"/>
                </a:solidFill>
                <a:latin typeface="Calibri" pitchFamily="34" charset="0"/>
                <a:ea typeface="Calibri" pitchFamily="34" charset="-122"/>
                <a:cs typeface="Calibri" pitchFamily="34" charset="-120"/>
              </a:rPr>
              <a:t>The threats explored in this report, in order</a:t>
            </a:r>
            <a:endParaRPr lang="en-US" sz="1350" dirty="0"/>
          </a:p>
        </p:txBody>
      </p:sp>
      <p:sp>
        <p:nvSpPr>
          <p:cNvPr id="4" name="Shape 2"/>
          <p:cNvSpPr/>
          <p:nvPr/>
        </p:nvSpPr>
        <p:spPr>
          <a:xfrm>
            <a:off x="548640" y="1737360"/>
            <a:ext cx="2139696" cy="3931920"/>
          </a:xfrm>
          <a:prstGeom prst="roundRect">
            <a:avLst>
              <a:gd name="adj" fmla="val 4274"/>
            </a:avLst>
          </a:prstGeom>
          <a:solidFill>
            <a:srgbClr val="F1F5F8"/>
          </a:solidFill>
          <a:ln/>
        </p:spPr>
      </p:sp>
      <p:sp>
        <p:nvSpPr>
          <p:cNvPr id="5" name="Shape 3"/>
          <p:cNvSpPr/>
          <p:nvPr/>
        </p:nvSpPr>
        <p:spPr>
          <a:xfrm>
            <a:off x="1252728" y="2057400"/>
            <a:ext cx="731520" cy="731520"/>
          </a:xfrm>
          <a:prstGeom prst="ellipse">
            <a:avLst/>
          </a:prstGeom>
          <a:solidFill>
            <a:srgbClr val="00B4D8"/>
          </a:solidFill>
          <a:ln/>
        </p:spPr>
      </p:sp>
      <p:pic>
        <p:nvPicPr>
          <p:cNvPr id="6" name="Image 0" descr="robot.png"/>
          <p:cNvPicPr>
            <a:picLocks noChangeAspect="1"/>
          </p:cNvPicPr>
          <p:nvPr/>
        </p:nvPicPr>
        <p:blipFill>
          <a:blip r:embed="rId3"/>
          <a:stretch>
            <a:fillRect/>
          </a:stretch>
        </p:blipFill>
        <p:spPr>
          <a:xfrm>
            <a:off x="1417320" y="2221992"/>
            <a:ext cx="402336" cy="402336"/>
          </a:xfrm>
          <a:prstGeom prst="rect">
            <a:avLst/>
          </a:prstGeom>
        </p:spPr>
      </p:pic>
      <p:sp>
        <p:nvSpPr>
          <p:cNvPr id="7" name="Text 4"/>
          <p:cNvSpPr/>
          <p:nvPr/>
        </p:nvSpPr>
        <p:spPr>
          <a:xfrm>
            <a:off x="640080" y="2971800"/>
            <a:ext cx="1956816" cy="320040"/>
          </a:xfrm>
          <a:prstGeom prst="rect">
            <a:avLst/>
          </a:prstGeom>
          <a:noFill/>
          <a:ln/>
        </p:spPr>
        <p:txBody>
          <a:bodyPr wrap="square" rtlCol="0" anchor="ctr"/>
          <a:lstStyle/>
          <a:p>
            <a:pPr marL="0" indent="0" algn="ctr">
              <a:buNone/>
            </a:pPr>
            <a:r>
              <a:rPr lang="en-US" sz="1300" b="1" dirty="0">
                <a:solidFill>
                  <a:srgbClr val="E63946"/>
                </a:solidFill>
                <a:latin typeface="Cambria" pitchFamily="34" charset="0"/>
                <a:ea typeface="Cambria" pitchFamily="34" charset="-122"/>
                <a:cs typeface="Cambria" pitchFamily="34" charset="-120"/>
              </a:rPr>
              <a:t>1</a:t>
            </a:r>
            <a:endParaRPr lang="en-US" sz="1300" dirty="0"/>
          </a:p>
        </p:txBody>
      </p:sp>
      <p:sp>
        <p:nvSpPr>
          <p:cNvPr id="8" name="Text 5"/>
          <p:cNvSpPr/>
          <p:nvPr/>
        </p:nvSpPr>
        <p:spPr>
          <a:xfrm>
            <a:off x="685800" y="3291840"/>
            <a:ext cx="1865376" cy="822960"/>
          </a:xfrm>
          <a:prstGeom prst="rect">
            <a:avLst/>
          </a:prstGeom>
          <a:noFill/>
          <a:ln/>
        </p:spPr>
        <p:txBody>
          <a:bodyPr wrap="square" rtlCol="0" anchor="ctr"/>
          <a:lstStyle/>
          <a:p>
            <a:pPr marL="0" indent="0" algn="ctr">
              <a:lnSpc>
                <a:spcPct val="110000"/>
              </a:lnSpc>
              <a:buNone/>
            </a:pPr>
            <a:r>
              <a:rPr lang="en-US" sz="1350" b="1" dirty="0">
                <a:solidFill>
                  <a:srgbClr val="142433"/>
                </a:solidFill>
                <a:latin typeface="Calibri" pitchFamily="34" charset="0"/>
                <a:ea typeface="Calibri" pitchFamily="34" charset="-122"/>
                <a:cs typeface="Calibri" pitchFamily="34" charset="-120"/>
              </a:rPr>
              <a:t>AI-Powered Phishing</a:t>
            </a:r>
            <a:endParaRPr lang="en-US" sz="1350" dirty="0"/>
          </a:p>
        </p:txBody>
      </p:sp>
      <p:sp>
        <p:nvSpPr>
          <p:cNvPr id="9" name="Text 6"/>
          <p:cNvSpPr/>
          <p:nvPr/>
        </p:nvSpPr>
        <p:spPr>
          <a:xfrm>
            <a:off x="685800" y="4206240"/>
            <a:ext cx="1865376" cy="1280160"/>
          </a:xfrm>
          <a:prstGeom prst="rect">
            <a:avLst/>
          </a:prstGeom>
          <a:noFill/>
          <a:ln/>
        </p:spPr>
        <p:txBody>
          <a:bodyPr wrap="square" rtlCol="0" anchor="ctr"/>
          <a:lstStyle/>
          <a:p>
            <a:pPr marL="0" indent="0" algn="ctr">
              <a:lnSpc>
                <a:spcPct val="120000"/>
              </a:lnSpc>
              <a:buNone/>
            </a:pPr>
            <a:r>
              <a:rPr lang="en-US" sz="1100" dirty="0">
                <a:solidFill>
                  <a:srgbClr val="5C6B7A"/>
                </a:solidFill>
                <a:latin typeface="Calibri" pitchFamily="34" charset="0"/>
                <a:ea typeface="Calibri" pitchFamily="34" charset="-122"/>
                <a:cs typeface="Calibri" pitchFamily="34" charset="-120"/>
              </a:rPr>
              <a:t>Deepfakes &amp; social engineering</a:t>
            </a:r>
            <a:endParaRPr lang="en-US" sz="1100" dirty="0"/>
          </a:p>
        </p:txBody>
      </p:sp>
      <p:sp>
        <p:nvSpPr>
          <p:cNvPr id="10" name="Shape 7"/>
          <p:cNvSpPr/>
          <p:nvPr/>
        </p:nvSpPr>
        <p:spPr>
          <a:xfrm>
            <a:off x="2807208" y="1737360"/>
            <a:ext cx="2139696" cy="3931920"/>
          </a:xfrm>
          <a:prstGeom prst="roundRect">
            <a:avLst>
              <a:gd name="adj" fmla="val 4274"/>
            </a:avLst>
          </a:prstGeom>
          <a:solidFill>
            <a:srgbClr val="F1F5F8"/>
          </a:solidFill>
          <a:ln/>
        </p:spPr>
      </p:sp>
      <p:sp>
        <p:nvSpPr>
          <p:cNvPr id="11" name="Shape 8"/>
          <p:cNvSpPr/>
          <p:nvPr/>
        </p:nvSpPr>
        <p:spPr>
          <a:xfrm>
            <a:off x="3511296" y="2057400"/>
            <a:ext cx="731520" cy="731520"/>
          </a:xfrm>
          <a:prstGeom prst="ellipse">
            <a:avLst/>
          </a:prstGeom>
          <a:solidFill>
            <a:srgbClr val="0B1F3A"/>
          </a:solidFill>
          <a:ln/>
        </p:spPr>
      </p:sp>
      <p:pic>
        <p:nvPicPr>
          <p:cNvPr id="12" name="Image 1" descr="lock.png"/>
          <p:cNvPicPr>
            <a:picLocks noChangeAspect="1"/>
          </p:cNvPicPr>
          <p:nvPr/>
        </p:nvPicPr>
        <p:blipFill>
          <a:blip r:embed="rId4"/>
          <a:stretch>
            <a:fillRect/>
          </a:stretch>
        </p:blipFill>
        <p:spPr>
          <a:xfrm>
            <a:off x="3675888" y="2221992"/>
            <a:ext cx="402336" cy="402336"/>
          </a:xfrm>
          <a:prstGeom prst="rect">
            <a:avLst/>
          </a:prstGeom>
        </p:spPr>
      </p:pic>
      <p:sp>
        <p:nvSpPr>
          <p:cNvPr id="13" name="Text 9"/>
          <p:cNvSpPr/>
          <p:nvPr/>
        </p:nvSpPr>
        <p:spPr>
          <a:xfrm>
            <a:off x="2898648" y="2971800"/>
            <a:ext cx="1956816" cy="320040"/>
          </a:xfrm>
          <a:prstGeom prst="rect">
            <a:avLst/>
          </a:prstGeom>
          <a:noFill/>
          <a:ln/>
        </p:spPr>
        <p:txBody>
          <a:bodyPr wrap="square" rtlCol="0" anchor="ctr"/>
          <a:lstStyle/>
          <a:p>
            <a:pPr marL="0" indent="0" algn="ctr">
              <a:buNone/>
            </a:pPr>
            <a:r>
              <a:rPr lang="en-US" sz="1300" b="1" dirty="0">
                <a:solidFill>
                  <a:srgbClr val="E63946"/>
                </a:solidFill>
                <a:latin typeface="Cambria" pitchFamily="34" charset="0"/>
                <a:ea typeface="Cambria" pitchFamily="34" charset="-122"/>
                <a:cs typeface="Cambria" pitchFamily="34" charset="-120"/>
              </a:rPr>
              <a:t>2</a:t>
            </a:r>
            <a:endParaRPr lang="en-US" sz="1300" dirty="0"/>
          </a:p>
        </p:txBody>
      </p:sp>
      <p:sp>
        <p:nvSpPr>
          <p:cNvPr id="14" name="Text 10"/>
          <p:cNvSpPr/>
          <p:nvPr/>
        </p:nvSpPr>
        <p:spPr>
          <a:xfrm>
            <a:off x="2944368" y="3291840"/>
            <a:ext cx="1865376" cy="822960"/>
          </a:xfrm>
          <a:prstGeom prst="rect">
            <a:avLst/>
          </a:prstGeom>
          <a:noFill/>
          <a:ln/>
        </p:spPr>
        <p:txBody>
          <a:bodyPr wrap="square" rtlCol="0" anchor="ctr"/>
          <a:lstStyle/>
          <a:p>
            <a:pPr marL="0" indent="0" algn="ctr">
              <a:lnSpc>
                <a:spcPct val="110000"/>
              </a:lnSpc>
              <a:buNone/>
            </a:pPr>
            <a:r>
              <a:rPr lang="en-US" sz="1350" b="1" dirty="0">
                <a:solidFill>
                  <a:srgbClr val="142433"/>
                </a:solidFill>
                <a:latin typeface="Calibri" pitchFamily="34" charset="0"/>
                <a:ea typeface="Calibri" pitchFamily="34" charset="-122"/>
                <a:cs typeface="Calibri" pitchFamily="34" charset="-120"/>
              </a:rPr>
              <a:t>Ransomware-as-a-Service</a:t>
            </a:r>
            <a:endParaRPr lang="en-US" sz="1350" dirty="0"/>
          </a:p>
        </p:txBody>
      </p:sp>
      <p:sp>
        <p:nvSpPr>
          <p:cNvPr id="15" name="Text 11"/>
          <p:cNvSpPr/>
          <p:nvPr/>
        </p:nvSpPr>
        <p:spPr>
          <a:xfrm>
            <a:off x="2944368" y="4206240"/>
            <a:ext cx="1865376" cy="1280160"/>
          </a:xfrm>
          <a:prstGeom prst="rect">
            <a:avLst/>
          </a:prstGeom>
          <a:noFill/>
          <a:ln/>
        </p:spPr>
        <p:txBody>
          <a:bodyPr wrap="square" rtlCol="0" anchor="ctr"/>
          <a:lstStyle/>
          <a:p>
            <a:pPr marL="0" indent="0" algn="ctr">
              <a:lnSpc>
                <a:spcPct val="120000"/>
              </a:lnSpc>
              <a:buNone/>
            </a:pPr>
            <a:r>
              <a:rPr lang="en-US" sz="1100" dirty="0">
                <a:solidFill>
                  <a:srgbClr val="5C6B7A"/>
                </a:solidFill>
                <a:latin typeface="Calibri" pitchFamily="34" charset="0"/>
                <a:ea typeface="Calibri" pitchFamily="34" charset="-122"/>
                <a:cs typeface="Calibri" pitchFamily="34" charset="-120"/>
              </a:rPr>
              <a:t>Ransomware kits for hire</a:t>
            </a:r>
            <a:endParaRPr lang="en-US" sz="1100" dirty="0"/>
          </a:p>
        </p:txBody>
      </p:sp>
      <p:sp>
        <p:nvSpPr>
          <p:cNvPr id="16" name="Shape 12"/>
          <p:cNvSpPr/>
          <p:nvPr/>
        </p:nvSpPr>
        <p:spPr>
          <a:xfrm>
            <a:off x="5065776" y="1737360"/>
            <a:ext cx="2139696" cy="3931920"/>
          </a:xfrm>
          <a:prstGeom prst="roundRect">
            <a:avLst>
              <a:gd name="adj" fmla="val 4274"/>
            </a:avLst>
          </a:prstGeom>
          <a:solidFill>
            <a:srgbClr val="F1F5F8"/>
          </a:solidFill>
          <a:ln/>
        </p:spPr>
      </p:sp>
      <p:sp>
        <p:nvSpPr>
          <p:cNvPr id="17" name="Shape 13"/>
          <p:cNvSpPr/>
          <p:nvPr/>
        </p:nvSpPr>
        <p:spPr>
          <a:xfrm>
            <a:off x="5769864" y="2057400"/>
            <a:ext cx="731520" cy="731520"/>
          </a:xfrm>
          <a:prstGeom prst="ellipse">
            <a:avLst/>
          </a:prstGeom>
          <a:solidFill>
            <a:srgbClr val="0B1F3A"/>
          </a:solidFill>
          <a:ln/>
        </p:spPr>
      </p:sp>
      <p:pic>
        <p:nvPicPr>
          <p:cNvPr id="18" name="Image 2" descr="cloud.png"/>
          <p:cNvPicPr>
            <a:picLocks noChangeAspect="1"/>
          </p:cNvPicPr>
          <p:nvPr/>
        </p:nvPicPr>
        <p:blipFill>
          <a:blip r:embed="rId5"/>
          <a:stretch>
            <a:fillRect/>
          </a:stretch>
        </p:blipFill>
        <p:spPr>
          <a:xfrm>
            <a:off x="5934456" y="2221992"/>
            <a:ext cx="402336" cy="402336"/>
          </a:xfrm>
          <a:prstGeom prst="rect">
            <a:avLst/>
          </a:prstGeom>
        </p:spPr>
      </p:pic>
      <p:sp>
        <p:nvSpPr>
          <p:cNvPr id="19" name="Text 14"/>
          <p:cNvSpPr/>
          <p:nvPr/>
        </p:nvSpPr>
        <p:spPr>
          <a:xfrm>
            <a:off x="5157216" y="2971800"/>
            <a:ext cx="1956816" cy="320040"/>
          </a:xfrm>
          <a:prstGeom prst="rect">
            <a:avLst/>
          </a:prstGeom>
          <a:noFill/>
          <a:ln/>
        </p:spPr>
        <p:txBody>
          <a:bodyPr wrap="square" rtlCol="0" anchor="ctr"/>
          <a:lstStyle/>
          <a:p>
            <a:pPr marL="0" indent="0" algn="ctr">
              <a:buNone/>
            </a:pPr>
            <a:r>
              <a:rPr lang="en-US" sz="1300" b="1" dirty="0">
                <a:solidFill>
                  <a:srgbClr val="E63946"/>
                </a:solidFill>
                <a:latin typeface="Cambria" pitchFamily="34" charset="0"/>
                <a:ea typeface="Cambria" pitchFamily="34" charset="-122"/>
                <a:cs typeface="Cambria" pitchFamily="34" charset="-120"/>
              </a:rPr>
              <a:t>3</a:t>
            </a:r>
            <a:endParaRPr lang="en-US" sz="1300" dirty="0"/>
          </a:p>
        </p:txBody>
      </p:sp>
      <p:sp>
        <p:nvSpPr>
          <p:cNvPr id="20" name="Text 15"/>
          <p:cNvSpPr/>
          <p:nvPr/>
        </p:nvSpPr>
        <p:spPr>
          <a:xfrm>
            <a:off x="5202936" y="3291840"/>
            <a:ext cx="1865376" cy="822960"/>
          </a:xfrm>
          <a:prstGeom prst="rect">
            <a:avLst/>
          </a:prstGeom>
          <a:noFill/>
          <a:ln/>
        </p:spPr>
        <p:txBody>
          <a:bodyPr wrap="square" rtlCol="0" anchor="ctr"/>
          <a:lstStyle/>
          <a:p>
            <a:pPr marL="0" indent="0" algn="ctr">
              <a:lnSpc>
                <a:spcPct val="110000"/>
              </a:lnSpc>
              <a:buNone/>
            </a:pPr>
            <a:r>
              <a:rPr lang="en-US" sz="1350" b="1" dirty="0">
                <a:solidFill>
                  <a:srgbClr val="142433"/>
                </a:solidFill>
                <a:latin typeface="Calibri" pitchFamily="34" charset="0"/>
                <a:ea typeface="Calibri" pitchFamily="34" charset="-122"/>
                <a:cs typeface="Calibri" pitchFamily="34" charset="-120"/>
              </a:rPr>
              <a:t>Cloud Misconfigurations</a:t>
            </a:r>
            <a:endParaRPr lang="en-US" sz="1350" dirty="0"/>
          </a:p>
        </p:txBody>
      </p:sp>
      <p:sp>
        <p:nvSpPr>
          <p:cNvPr id="21" name="Text 16"/>
          <p:cNvSpPr/>
          <p:nvPr/>
        </p:nvSpPr>
        <p:spPr>
          <a:xfrm>
            <a:off x="5202936" y="4206240"/>
            <a:ext cx="1865376" cy="1280160"/>
          </a:xfrm>
          <a:prstGeom prst="rect">
            <a:avLst/>
          </a:prstGeom>
          <a:noFill/>
          <a:ln/>
        </p:spPr>
        <p:txBody>
          <a:bodyPr wrap="square" rtlCol="0" anchor="ctr"/>
          <a:lstStyle/>
          <a:p>
            <a:pPr marL="0" indent="0" algn="ctr">
              <a:lnSpc>
                <a:spcPct val="120000"/>
              </a:lnSpc>
              <a:buNone/>
            </a:pPr>
            <a:r>
              <a:rPr lang="en-US" sz="1100" dirty="0">
                <a:solidFill>
                  <a:srgbClr val="5C6B7A"/>
                </a:solidFill>
                <a:latin typeface="Calibri" pitchFamily="34" charset="0"/>
                <a:ea typeface="Calibri" pitchFamily="34" charset="-122"/>
                <a:cs typeface="Calibri" pitchFamily="34" charset="-120"/>
              </a:rPr>
              <a:t>Data leaks from AWS/Azure/GCP</a:t>
            </a:r>
            <a:endParaRPr lang="en-US" sz="1100" dirty="0"/>
          </a:p>
        </p:txBody>
      </p:sp>
      <p:sp>
        <p:nvSpPr>
          <p:cNvPr id="22" name="Shape 17"/>
          <p:cNvSpPr/>
          <p:nvPr/>
        </p:nvSpPr>
        <p:spPr>
          <a:xfrm>
            <a:off x="7324344" y="1737360"/>
            <a:ext cx="2139696" cy="3931920"/>
          </a:xfrm>
          <a:prstGeom prst="roundRect">
            <a:avLst>
              <a:gd name="adj" fmla="val 4274"/>
            </a:avLst>
          </a:prstGeom>
          <a:solidFill>
            <a:srgbClr val="F1F5F8"/>
          </a:solidFill>
          <a:ln/>
        </p:spPr>
      </p:sp>
      <p:sp>
        <p:nvSpPr>
          <p:cNvPr id="23" name="Shape 18"/>
          <p:cNvSpPr/>
          <p:nvPr/>
        </p:nvSpPr>
        <p:spPr>
          <a:xfrm>
            <a:off x="8028432" y="2057400"/>
            <a:ext cx="731520" cy="731520"/>
          </a:xfrm>
          <a:prstGeom prst="ellipse">
            <a:avLst/>
          </a:prstGeom>
          <a:solidFill>
            <a:srgbClr val="0B1F3A"/>
          </a:solidFill>
          <a:ln/>
        </p:spPr>
      </p:sp>
      <p:pic>
        <p:nvPicPr>
          <p:cNvPr id="24" name="Image 3" descr="microchip.png"/>
          <p:cNvPicPr>
            <a:picLocks noChangeAspect="1"/>
          </p:cNvPicPr>
          <p:nvPr/>
        </p:nvPicPr>
        <p:blipFill>
          <a:blip r:embed="rId6"/>
          <a:stretch>
            <a:fillRect/>
          </a:stretch>
        </p:blipFill>
        <p:spPr>
          <a:xfrm>
            <a:off x="8193024" y="2221992"/>
            <a:ext cx="402336" cy="402336"/>
          </a:xfrm>
          <a:prstGeom prst="rect">
            <a:avLst/>
          </a:prstGeom>
        </p:spPr>
      </p:pic>
      <p:sp>
        <p:nvSpPr>
          <p:cNvPr id="25" name="Text 19"/>
          <p:cNvSpPr/>
          <p:nvPr/>
        </p:nvSpPr>
        <p:spPr>
          <a:xfrm>
            <a:off x="7415784" y="2971800"/>
            <a:ext cx="1956816" cy="320040"/>
          </a:xfrm>
          <a:prstGeom prst="rect">
            <a:avLst/>
          </a:prstGeom>
          <a:noFill/>
          <a:ln/>
        </p:spPr>
        <p:txBody>
          <a:bodyPr wrap="square" rtlCol="0" anchor="ctr"/>
          <a:lstStyle/>
          <a:p>
            <a:pPr marL="0" indent="0" algn="ctr">
              <a:buNone/>
            </a:pPr>
            <a:r>
              <a:rPr lang="en-US" sz="1300" b="1" dirty="0">
                <a:solidFill>
                  <a:srgbClr val="E63946"/>
                </a:solidFill>
                <a:latin typeface="Cambria" pitchFamily="34" charset="0"/>
                <a:ea typeface="Cambria" pitchFamily="34" charset="-122"/>
                <a:cs typeface="Cambria" pitchFamily="34" charset="-120"/>
              </a:rPr>
              <a:t>4</a:t>
            </a:r>
            <a:endParaRPr lang="en-US" sz="1300" dirty="0"/>
          </a:p>
        </p:txBody>
      </p:sp>
      <p:sp>
        <p:nvSpPr>
          <p:cNvPr id="26" name="Text 20"/>
          <p:cNvSpPr/>
          <p:nvPr/>
        </p:nvSpPr>
        <p:spPr>
          <a:xfrm>
            <a:off x="7461504" y="3291840"/>
            <a:ext cx="1865376" cy="822960"/>
          </a:xfrm>
          <a:prstGeom prst="rect">
            <a:avLst/>
          </a:prstGeom>
          <a:noFill/>
          <a:ln/>
        </p:spPr>
        <p:txBody>
          <a:bodyPr wrap="square" rtlCol="0" anchor="ctr"/>
          <a:lstStyle/>
          <a:p>
            <a:pPr marL="0" indent="0" algn="ctr">
              <a:lnSpc>
                <a:spcPct val="110000"/>
              </a:lnSpc>
              <a:buNone/>
            </a:pPr>
            <a:r>
              <a:rPr lang="en-US" sz="1350" b="1" dirty="0">
                <a:solidFill>
                  <a:srgbClr val="142433"/>
                </a:solidFill>
                <a:latin typeface="Calibri" pitchFamily="34" charset="0"/>
                <a:ea typeface="Calibri" pitchFamily="34" charset="-122"/>
                <a:cs typeface="Calibri" pitchFamily="34" charset="-120"/>
              </a:rPr>
              <a:t>IoT Vulnerabilities</a:t>
            </a:r>
            <a:endParaRPr lang="en-US" sz="1350" dirty="0"/>
          </a:p>
        </p:txBody>
      </p:sp>
      <p:sp>
        <p:nvSpPr>
          <p:cNvPr id="27" name="Text 21"/>
          <p:cNvSpPr/>
          <p:nvPr/>
        </p:nvSpPr>
        <p:spPr>
          <a:xfrm>
            <a:off x="7461504" y="4206240"/>
            <a:ext cx="1865376" cy="1280160"/>
          </a:xfrm>
          <a:prstGeom prst="rect">
            <a:avLst/>
          </a:prstGeom>
          <a:noFill/>
          <a:ln/>
        </p:spPr>
        <p:txBody>
          <a:bodyPr wrap="square" rtlCol="0" anchor="ctr"/>
          <a:lstStyle/>
          <a:p>
            <a:pPr marL="0" indent="0" algn="ctr">
              <a:lnSpc>
                <a:spcPct val="120000"/>
              </a:lnSpc>
              <a:buNone/>
            </a:pPr>
            <a:r>
              <a:rPr lang="en-US" sz="1100" dirty="0">
                <a:solidFill>
                  <a:srgbClr val="5C6B7A"/>
                </a:solidFill>
                <a:latin typeface="Calibri" pitchFamily="34" charset="0"/>
                <a:ea typeface="Calibri" pitchFamily="34" charset="-122"/>
                <a:cs typeface="Calibri" pitchFamily="34" charset="-120"/>
              </a:rPr>
              <a:t>Smart devices getting hacked</a:t>
            </a:r>
            <a:endParaRPr lang="en-US" sz="1100" dirty="0"/>
          </a:p>
        </p:txBody>
      </p:sp>
      <p:sp>
        <p:nvSpPr>
          <p:cNvPr id="28" name="Shape 22"/>
          <p:cNvSpPr/>
          <p:nvPr/>
        </p:nvSpPr>
        <p:spPr>
          <a:xfrm>
            <a:off x="9582912" y="1737360"/>
            <a:ext cx="2139696" cy="3931920"/>
          </a:xfrm>
          <a:prstGeom prst="roundRect">
            <a:avLst>
              <a:gd name="adj" fmla="val 4274"/>
            </a:avLst>
          </a:prstGeom>
          <a:solidFill>
            <a:srgbClr val="F1F5F8"/>
          </a:solidFill>
          <a:ln/>
        </p:spPr>
      </p:sp>
      <p:sp>
        <p:nvSpPr>
          <p:cNvPr id="29" name="Shape 23"/>
          <p:cNvSpPr/>
          <p:nvPr/>
        </p:nvSpPr>
        <p:spPr>
          <a:xfrm>
            <a:off x="10287000" y="2057400"/>
            <a:ext cx="731520" cy="731520"/>
          </a:xfrm>
          <a:prstGeom prst="ellipse">
            <a:avLst/>
          </a:prstGeom>
          <a:solidFill>
            <a:srgbClr val="0B1F3A"/>
          </a:solidFill>
          <a:ln/>
        </p:spPr>
      </p:sp>
      <p:pic>
        <p:nvPicPr>
          <p:cNvPr id="30" name="Image 4" descr="bug.png"/>
          <p:cNvPicPr>
            <a:picLocks noChangeAspect="1"/>
          </p:cNvPicPr>
          <p:nvPr/>
        </p:nvPicPr>
        <p:blipFill>
          <a:blip r:embed="rId7"/>
          <a:stretch>
            <a:fillRect/>
          </a:stretch>
        </p:blipFill>
        <p:spPr>
          <a:xfrm>
            <a:off x="10451592" y="2221992"/>
            <a:ext cx="402336" cy="402336"/>
          </a:xfrm>
          <a:prstGeom prst="rect">
            <a:avLst/>
          </a:prstGeom>
        </p:spPr>
      </p:pic>
      <p:sp>
        <p:nvSpPr>
          <p:cNvPr id="31" name="Text 24"/>
          <p:cNvSpPr/>
          <p:nvPr/>
        </p:nvSpPr>
        <p:spPr>
          <a:xfrm>
            <a:off x="9674352" y="2971800"/>
            <a:ext cx="1956816" cy="320040"/>
          </a:xfrm>
          <a:prstGeom prst="rect">
            <a:avLst/>
          </a:prstGeom>
          <a:noFill/>
          <a:ln/>
        </p:spPr>
        <p:txBody>
          <a:bodyPr wrap="square" rtlCol="0" anchor="ctr"/>
          <a:lstStyle/>
          <a:p>
            <a:pPr marL="0" indent="0" algn="ctr">
              <a:buNone/>
            </a:pPr>
            <a:r>
              <a:rPr lang="en-US" sz="1300" b="1" dirty="0">
                <a:solidFill>
                  <a:srgbClr val="E63946"/>
                </a:solidFill>
                <a:latin typeface="Cambria" pitchFamily="34" charset="0"/>
                <a:ea typeface="Cambria" pitchFamily="34" charset="-122"/>
                <a:cs typeface="Cambria" pitchFamily="34" charset="-120"/>
              </a:rPr>
              <a:t>5</a:t>
            </a:r>
            <a:endParaRPr lang="en-US" sz="1300" dirty="0"/>
          </a:p>
        </p:txBody>
      </p:sp>
      <p:sp>
        <p:nvSpPr>
          <p:cNvPr id="32" name="Text 25"/>
          <p:cNvSpPr/>
          <p:nvPr/>
        </p:nvSpPr>
        <p:spPr>
          <a:xfrm>
            <a:off x="9720072" y="3291840"/>
            <a:ext cx="1865376" cy="822960"/>
          </a:xfrm>
          <a:prstGeom prst="rect">
            <a:avLst/>
          </a:prstGeom>
          <a:noFill/>
          <a:ln/>
        </p:spPr>
        <p:txBody>
          <a:bodyPr wrap="square" rtlCol="0" anchor="ctr"/>
          <a:lstStyle/>
          <a:p>
            <a:pPr marL="0" indent="0" algn="ctr">
              <a:lnSpc>
                <a:spcPct val="110000"/>
              </a:lnSpc>
              <a:buNone/>
            </a:pPr>
            <a:r>
              <a:rPr lang="en-US" sz="1350" b="1" dirty="0">
                <a:solidFill>
                  <a:srgbClr val="142433"/>
                </a:solidFill>
                <a:latin typeface="Calibri" pitchFamily="34" charset="0"/>
                <a:ea typeface="Calibri" pitchFamily="34" charset="-122"/>
                <a:cs typeface="Calibri" pitchFamily="34" charset="-120"/>
              </a:rPr>
              <a:t>Zero-Day Exploits</a:t>
            </a:r>
            <a:endParaRPr lang="en-US" sz="1350" dirty="0"/>
          </a:p>
        </p:txBody>
      </p:sp>
      <p:sp>
        <p:nvSpPr>
          <p:cNvPr id="33" name="Text 26"/>
          <p:cNvSpPr/>
          <p:nvPr/>
        </p:nvSpPr>
        <p:spPr>
          <a:xfrm>
            <a:off x="9720072" y="4206240"/>
            <a:ext cx="1865376" cy="1280160"/>
          </a:xfrm>
          <a:prstGeom prst="rect">
            <a:avLst/>
          </a:prstGeom>
          <a:noFill/>
          <a:ln/>
        </p:spPr>
        <p:txBody>
          <a:bodyPr wrap="square" rtlCol="0" anchor="ctr"/>
          <a:lstStyle/>
          <a:p>
            <a:pPr marL="0" indent="0" algn="ctr">
              <a:lnSpc>
                <a:spcPct val="120000"/>
              </a:lnSpc>
              <a:buNone/>
            </a:pPr>
            <a:r>
              <a:rPr lang="en-US" sz="1100" dirty="0">
                <a:solidFill>
                  <a:srgbClr val="5C6B7A"/>
                </a:solidFill>
                <a:latin typeface="Calibri" pitchFamily="34" charset="0"/>
                <a:ea typeface="Calibri" pitchFamily="34" charset="-122"/>
                <a:cs typeface="Calibri" pitchFamily="34" charset="-120"/>
              </a:rPr>
              <a:t>Unpatched, unknown flaws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85800" cy="685800"/>
          </a:xfrm>
          <a:prstGeom prst="ellipse">
            <a:avLst/>
          </a:prstGeom>
          <a:solidFill>
            <a:srgbClr val="E63946"/>
          </a:solidFill>
          <a:ln/>
        </p:spPr>
      </p:sp>
      <p:pic>
        <p:nvPicPr>
          <p:cNvPr id="3" name="Image 0" descr="robot.png"/>
          <p:cNvPicPr>
            <a:picLocks noChangeAspect="1"/>
          </p:cNvPicPr>
          <p:nvPr/>
        </p:nvPicPr>
        <p:blipFill>
          <a:blip r:embed="rId3"/>
          <a:stretch>
            <a:fillRect/>
          </a:stretch>
        </p:blipFill>
        <p:spPr>
          <a:xfrm>
            <a:off x="722376" y="630936"/>
            <a:ext cx="338328" cy="338328"/>
          </a:xfrm>
          <a:prstGeom prst="rect">
            <a:avLst/>
          </a:prstGeom>
        </p:spPr>
      </p:pic>
      <p:sp>
        <p:nvSpPr>
          <p:cNvPr id="4" name="Text 1"/>
          <p:cNvSpPr/>
          <p:nvPr/>
        </p:nvSpPr>
        <p:spPr>
          <a:xfrm>
            <a:off x="1417320" y="457200"/>
            <a:ext cx="4572000" cy="274320"/>
          </a:xfrm>
          <a:prstGeom prst="rect">
            <a:avLst/>
          </a:prstGeom>
          <a:noFill/>
          <a:ln/>
        </p:spPr>
        <p:txBody>
          <a:bodyPr wrap="square" rtlCol="0" anchor="ctr"/>
          <a:lstStyle/>
          <a:p>
            <a:pPr marL="0" indent="0">
              <a:buNone/>
            </a:pPr>
            <a:r>
              <a:rPr lang="en-US" sz="1100" b="1" kern="0" spc="200" dirty="0">
                <a:solidFill>
                  <a:srgbClr val="E63946"/>
                </a:solidFill>
                <a:latin typeface="Calibri" pitchFamily="34" charset="0"/>
                <a:ea typeface="Calibri" pitchFamily="34" charset="-122"/>
                <a:cs typeface="Calibri" pitchFamily="34" charset="-120"/>
              </a:rPr>
              <a:t>THREAT 1 / 5</a:t>
            </a:r>
            <a:endParaRPr lang="en-US" sz="1100" dirty="0"/>
          </a:p>
        </p:txBody>
      </p:sp>
      <p:sp>
        <p:nvSpPr>
          <p:cNvPr id="5" name="Text 2"/>
          <p:cNvSpPr/>
          <p:nvPr/>
        </p:nvSpPr>
        <p:spPr>
          <a:xfrm>
            <a:off x="1417320" y="713232"/>
            <a:ext cx="9601200" cy="502920"/>
          </a:xfrm>
          <a:prstGeom prst="rect">
            <a:avLst/>
          </a:prstGeom>
          <a:noFill/>
          <a:ln/>
        </p:spPr>
        <p:txBody>
          <a:bodyPr wrap="square" rtlCol="0" anchor="ctr"/>
          <a:lstStyle/>
          <a:p>
            <a:pPr marL="0" indent="0">
              <a:buNone/>
            </a:pPr>
            <a:r>
              <a:rPr lang="en-US" sz="2400" b="1" dirty="0">
                <a:solidFill>
                  <a:srgbClr val="142433"/>
                </a:solidFill>
                <a:latin typeface="Cambria" pitchFamily="34" charset="0"/>
                <a:ea typeface="Cambria" pitchFamily="34" charset="-122"/>
                <a:cs typeface="Cambria" pitchFamily="34" charset="-120"/>
              </a:rPr>
              <a:t>AI-Powered Phishing Attacks</a:t>
            </a:r>
            <a:endParaRPr lang="en-US" sz="2400" dirty="0"/>
          </a:p>
        </p:txBody>
      </p:sp>
      <p:sp>
        <p:nvSpPr>
          <p:cNvPr id="6" name="Text 3"/>
          <p:cNvSpPr/>
          <p:nvPr/>
        </p:nvSpPr>
        <p:spPr>
          <a:xfrm>
            <a:off x="548640" y="1417320"/>
            <a:ext cx="11064240" cy="777240"/>
          </a:xfrm>
          <a:prstGeom prst="rect">
            <a:avLst/>
          </a:prstGeom>
          <a:noFill/>
          <a:ln/>
        </p:spPr>
        <p:txBody>
          <a:bodyPr wrap="square" rtlCol="0" anchor="ctr"/>
          <a:lstStyle/>
          <a:p>
            <a:pPr marL="0" indent="0">
              <a:lnSpc>
                <a:spcPct val="120000"/>
              </a:lnSpc>
              <a:buNone/>
            </a:pPr>
            <a:r>
              <a:rPr lang="en-US" sz="1300" dirty="0">
                <a:solidFill>
                  <a:srgbClr val="5C6B7A"/>
                </a:solidFill>
                <a:latin typeface="Calibri" pitchFamily="34" charset="0"/>
                <a:ea typeface="Calibri" pitchFamily="34" charset="-122"/>
                <a:cs typeface="Calibri" pitchFamily="34" charset="-120"/>
              </a:rPr>
              <a:t>Attackers use generative AI to craft hyper-personalized emails, cloned voices, and real-time deepfake video calls that impersonate trusted colleagues or executives — removing the typos and awkward phrasing that once gave phishing away.</a:t>
            </a:r>
            <a:endParaRPr lang="en-US" sz="1300" dirty="0"/>
          </a:p>
        </p:txBody>
      </p:sp>
      <p:sp>
        <p:nvSpPr>
          <p:cNvPr id="7" name="Shape 4"/>
          <p:cNvSpPr/>
          <p:nvPr/>
        </p:nvSpPr>
        <p:spPr>
          <a:xfrm>
            <a:off x="548640" y="2331720"/>
            <a:ext cx="5394960" cy="2011680"/>
          </a:xfrm>
          <a:prstGeom prst="roundRect">
            <a:avLst>
              <a:gd name="adj" fmla="val 4545"/>
            </a:avLst>
          </a:prstGeom>
          <a:solidFill>
            <a:srgbClr val="F1F5F8"/>
          </a:solidFill>
          <a:ln/>
        </p:spPr>
      </p:sp>
      <p:sp>
        <p:nvSpPr>
          <p:cNvPr id="8" name="Text 5"/>
          <p:cNvSpPr/>
          <p:nvPr/>
        </p:nvSpPr>
        <p:spPr>
          <a:xfrm>
            <a:off x="777240" y="2468880"/>
            <a:ext cx="4572000" cy="274320"/>
          </a:xfrm>
          <a:prstGeom prst="rect">
            <a:avLst/>
          </a:prstGeom>
          <a:noFill/>
          <a:ln/>
        </p:spPr>
        <p:txBody>
          <a:bodyPr wrap="square" rtlCol="0" anchor="ctr"/>
          <a:lstStyle/>
          <a:p>
            <a:pPr marL="0" indent="0">
              <a:buNone/>
            </a:pPr>
            <a:r>
              <a:rPr lang="en-US" sz="1100" b="1" kern="0" spc="200" dirty="0">
                <a:solidFill>
                  <a:srgbClr val="0B1F3A"/>
                </a:solidFill>
                <a:latin typeface="Calibri" pitchFamily="34" charset="0"/>
                <a:ea typeface="Calibri" pitchFamily="34" charset="-122"/>
                <a:cs typeface="Calibri" pitchFamily="34" charset="-120"/>
              </a:rPr>
              <a:t>IMPACT</a:t>
            </a:r>
            <a:endParaRPr lang="en-US" sz="1100" dirty="0"/>
          </a:p>
        </p:txBody>
      </p:sp>
      <p:pic>
        <p:nvPicPr>
          <p:cNvPr id="9" name="Image 1" descr="user.png"/>
          <p:cNvPicPr>
            <a:picLocks noChangeAspect="1"/>
          </p:cNvPicPr>
          <p:nvPr/>
        </p:nvPicPr>
        <p:blipFill>
          <a:blip r:embed="rId4"/>
          <a:stretch>
            <a:fillRect/>
          </a:stretch>
        </p:blipFill>
        <p:spPr>
          <a:xfrm>
            <a:off x="777240" y="2834640"/>
            <a:ext cx="274320" cy="274320"/>
          </a:xfrm>
          <a:prstGeom prst="rect">
            <a:avLst/>
          </a:prstGeom>
        </p:spPr>
      </p:pic>
      <p:sp>
        <p:nvSpPr>
          <p:cNvPr id="10" name="Text 6"/>
          <p:cNvSpPr/>
          <p:nvPr/>
        </p:nvSpPr>
        <p:spPr>
          <a:xfrm>
            <a:off x="1188720" y="2761488"/>
            <a:ext cx="4617720" cy="640080"/>
          </a:xfrm>
          <a:prstGeom prst="rect">
            <a:avLst/>
          </a:prstGeom>
          <a:noFill/>
          <a:ln/>
        </p:spPr>
        <p:txBody>
          <a:bodyPr wrap="square" rtlCol="0" anchor="t"/>
          <a:lstStyle/>
          <a:p>
            <a:pPr marL="0" indent="0">
              <a:lnSpc>
                <a:spcPct val="115000"/>
              </a:lnSpc>
              <a:buNone/>
            </a:pPr>
            <a:r>
              <a:rPr lang="en-US" sz="1150" b="1" dirty="0">
                <a:solidFill>
                  <a:srgbClr val="142433"/>
                </a:solidFill>
                <a:latin typeface="Calibri" pitchFamily="34" charset="0"/>
                <a:ea typeface="Calibri" pitchFamily="34" charset="-122"/>
                <a:cs typeface="Calibri" pitchFamily="34" charset="-120"/>
              </a:rPr>
              <a:t>Individuals: </a:t>
            </a:r>
            <a:r>
              <a:rPr lang="en-US" sz="1150" dirty="0">
                <a:solidFill>
                  <a:srgbClr val="5C6B7A"/>
                </a:solidFill>
                <a:latin typeface="Calibri" pitchFamily="34" charset="0"/>
                <a:ea typeface="Calibri" pitchFamily="34" charset="-122"/>
                <a:cs typeface="Calibri" pitchFamily="34" charset="-120"/>
              </a:rPr>
              <a:t>Stolen credentials, drained bank accounts, identity theft, and manipulation into fraudulent personal transfers.</a:t>
            </a:r>
            <a:endParaRPr lang="en-US" sz="1150" dirty="0"/>
          </a:p>
        </p:txBody>
      </p:sp>
      <p:pic>
        <p:nvPicPr>
          <p:cNvPr id="11" name="Image 2" descr="building.png"/>
          <p:cNvPicPr>
            <a:picLocks noChangeAspect="1"/>
          </p:cNvPicPr>
          <p:nvPr/>
        </p:nvPicPr>
        <p:blipFill>
          <a:blip r:embed="rId5"/>
          <a:stretch>
            <a:fillRect/>
          </a:stretch>
        </p:blipFill>
        <p:spPr>
          <a:xfrm>
            <a:off x="777240" y="3520440"/>
            <a:ext cx="274320" cy="274320"/>
          </a:xfrm>
          <a:prstGeom prst="rect">
            <a:avLst/>
          </a:prstGeom>
        </p:spPr>
      </p:pic>
      <p:sp>
        <p:nvSpPr>
          <p:cNvPr id="12" name="Text 7"/>
          <p:cNvSpPr/>
          <p:nvPr/>
        </p:nvSpPr>
        <p:spPr>
          <a:xfrm>
            <a:off x="1188720" y="3447288"/>
            <a:ext cx="4617720" cy="777240"/>
          </a:xfrm>
          <a:prstGeom prst="rect">
            <a:avLst/>
          </a:prstGeom>
          <a:noFill/>
          <a:ln/>
        </p:spPr>
        <p:txBody>
          <a:bodyPr wrap="square" rtlCol="0" anchor="t"/>
          <a:lstStyle/>
          <a:p>
            <a:pPr marL="0" indent="0">
              <a:lnSpc>
                <a:spcPct val="115000"/>
              </a:lnSpc>
              <a:buNone/>
            </a:pPr>
            <a:r>
              <a:rPr lang="en-US" sz="1150" b="1" dirty="0">
                <a:solidFill>
                  <a:srgbClr val="142433"/>
                </a:solidFill>
                <a:latin typeface="Calibri" pitchFamily="34" charset="0"/>
                <a:ea typeface="Calibri" pitchFamily="34" charset="-122"/>
                <a:cs typeface="Calibri" pitchFamily="34" charset="-120"/>
              </a:rPr>
              <a:t>Organizations: </a:t>
            </a:r>
            <a:r>
              <a:rPr lang="en-US" sz="1150" dirty="0">
                <a:solidFill>
                  <a:srgbClr val="5C6B7A"/>
                </a:solidFill>
                <a:latin typeface="Calibri" pitchFamily="34" charset="0"/>
                <a:ea typeface="Calibri" pitchFamily="34" charset="-122"/>
                <a:cs typeface="Calibri" pitchFamily="34" charset="-120"/>
              </a:rPr>
              <a:t>Large-scale wire fraud, compromised executive communications, and erosion of trust in internal processes.</a:t>
            </a:r>
            <a:endParaRPr lang="en-US" sz="1150" dirty="0"/>
          </a:p>
        </p:txBody>
      </p:sp>
      <p:sp>
        <p:nvSpPr>
          <p:cNvPr id="13" name="Shape 8"/>
          <p:cNvSpPr/>
          <p:nvPr/>
        </p:nvSpPr>
        <p:spPr>
          <a:xfrm>
            <a:off x="6172200" y="2331720"/>
            <a:ext cx="5440680" cy="2011680"/>
          </a:xfrm>
          <a:prstGeom prst="roundRect">
            <a:avLst>
              <a:gd name="adj" fmla="val 4545"/>
            </a:avLst>
          </a:prstGeom>
          <a:solidFill>
            <a:srgbClr val="0B1F3A"/>
          </a:solidFill>
          <a:ln/>
        </p:spPr>
      </p:sp>
      <p:sp>
        <p:nvSpPr>
          <p:cNvPr id="14" name="Text 9"/>
          <p:cNvSpPr/>
          <p:nvPr/>
        </p:nvSpPr>
        <p:spPr>
          <a:xfrm>
            <a:off x="6400800" y="2468880"/>
            <a:ext cx="5029200" cy="274320"/>
          </a:xfrm>
          <a:prstGeom prst="rect">
            <a:avLst/>
          </a:prstGeom>
          <a:noFill/>
          <a:ln/>
        </p:spPr>
        <p:txBody>
          <a:bodyPr wrap="square" rtlCol="0" anchor="ctr"/>
          <a:lstStyle/>
          <a:p>
            <a:pPr marL="0" indent="0">
              <a:buNone/>
            </a:pPr>
            <a:r>
              <a:rPr lang="en-US" sz="1100" b="1" kern="0" spc="200" dirty="0">
                <a:solidFill>
                  <a:srgbClr val="00B4D8"/>
                </a:solidFill>
                <a:latin typeface="Calibri" pitchFamily="34" charset="0"/>
                <a:ea typeface="Calibri" pitchFamily="34" charset="-122"/>
                <a:cs typeface="Calibri" pitchFamily="34" charset="-120"/>
              </a:rPr>
              <a:t>REAL-WORLD CASE STUDY</a:t>
            </a:r>
            <a:endParaRPr lang="en-US" sz="1100" dirty="0"/>
          </a:p>
        </p:txBody>
      </p:sp>
      <p:sp>
        <p:nvSpPr>
          <p:cNvPr id="15" name="Text 10"/>
          <p:cNvSpPr/>
          <p:nvPr/>
        </p:nvSpPr>
        <p:spPr>
          <a:xfrm>
            <a:off x="6400800" y="2743200"/>
            <a:ext cx="50292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Arup Deepfake Scam (Hong Kong, 2024)</a:t>
            </a:r>
            <a:endParaRPr lang="en-US" sz="1400" dirty="0"/>
          </a:p>
        </p:txBody>
      </p:sp>
      <p:sp>
        <p:nvSpPr>
          <p:cNvPr id="16" name="Text 11"/>
          <p:cNvSpPr/>
          <p:nvPr/>
        </p:nvSpPr>
        <p:spPr>
          <a:xfrm>
            <a:off x="6400800" y="3108960"/>
            <a:ext cx="5029200" cy="1143000"/>
          </a:xfrm>
          <a:prstGeom prst="rect">
            <a:avLst/>
          </a:prstGeom>
          <a:noFill/>
          <a:ln/>
        </p:spPr>
        <p:txBody>
          <a:bodyPr wrap="square" rtlCol="0" anchor="ctr"/>
          <a:lstStyle/>
          <a:p>
            <a:pPr marL="0" indent="0">
              <a:lnSpc>
                <a:spcPct val="120000"/>
              </a:lnSpc>
              <a:buNone/>
            </a:pPr>
            <a:r>
              <a:rPr lang="en-US" sz="1150" dirty="0">
                <a:solidFill>
                  <a:srgbClr val="D6E2ED"/>
                </a:solidFill>
                <a:latin typeface="Calibri" pitchFamily="34" charset="0"/>
                <a:ea typeface="Calibri" pitchFamily="34" charset="-122"/>
                <a:cs typeface="Calibri" pitchFamily="34" charset="-120"/>
              </a:rPr>
              <a:t>An employee was invited to a video call where the CFO and colleagues were entirely AI-generated deepfakes. Believing the call was real, he made 15 transfers totaling $25.6M before the fraud was discovered.</a:t>
            </a:r>
            <a:endParaRPr lang="en-US" sz="1150" dirty="0"/>
          </a:p>
        </p:txBody>
      </p:sp>
      <p:sp>
        <p:nvSpPr>
          <p:cNvPr id="17" name="Text 12"/>
          <p:cNvSpPr/>
          <p:nvPr/>
        </p:nvSpPr>
        <p:spPr>
          <a:xfrm>
            <a:off x="548640" y="4572000"/>
            <a:ext cx="5486400" cy="274320"/>
          </a:xfrm>
          <a:prstGeom prst="rect">
            <a:avLst/>
          </a:prstGeom>
          <a:noFill/>
          <a:ln/>
        </p:spPr>
        <p:txBody>
          <a:bodyPr wrap="square" rtlCol="0" anchor="ctr"/>
          <a:lstStyle/>
          <a:p>
            <a:pPr marL="0" indent="0">
              <a:buNone/>
            </a:pPr>
            <a:r>
              <a:rPr lang="en-US" sz="1100" b="1" kern="0" spc="200" dirty="0">
                <a:solidFill>
                  <a:srgbClr val="0B1F3A"/>
                </a:solidFill>
                <a:latin typeface="Calibri" pitchFamily="34" charset="0"/>
                <a:ea typeface="Calibri" pitchFamily="34" charset="-122"/>
                <a:cs typeface="Calibri" pitchFamily="34" charset="-120"/>
              </a:rPr>
              <a:t>PREVENTIVE MEASURES</a:t>
            </a:r>
            <a:endParaRPr lang="en-US" sz="1100" dirty="0"/>
          </a:p>
        </p:txBody>
      </p:sp>
      <p:sp>
        <p:nvSpPr>
          <p:cNvPr id="18" name="Shape 13"/>
          <p:cNvSpPr/>
          <p:nvPr/>
        </p:nvSpPr>
        <p:spPr>
          <a:xfrm>
            <a:off x="548640" y="4937760"/>
            <a:ext cx="3505200" cy="1417320"/>
          </a:xfrm>
          <a:prstGeom prst="roundRect">
            <a:avLst>
              <a:gd name="adj" fmla="val 5161"/>
            </a:avLst>
          </a:prstGeom>
          <a:solidFill>
            <a:srgbClr val="F1F5F8"/>
          </a:solidFill>
          <a:ln w="12700">
            <a:solidFill>
              <a:srgbClr val="DCE4EA"/>
            </a:solidFill>
            <a:prstDash val="solid"/>
          </a:ln>
        </p:spPr>
      </p:sp>
      <p:pic>
        <p:nvPicPr>
          <p:cNvPr id="19" name="Image 3" descr="check.png"/>
          <p:cNvPicPr>
            <a:picLocks noChangeAspect="1"/>
          </p:cNvPicPr>
          <p:nvPr/>
        </p:nvPicPr>
        <p:blipFill>
          <a:blip r:embed="rId6"/>
          <a:stretch>
            <a:fillRect/>
          </a:stretch>
        </p:blipFill>
        <p:spPr>
          <a:xfrm>
            <a:off x="713232" y="5102352"/>
            <a:ext cx="256032" cy="256032"/>
          </a:xfrm>
          <a:prstGeom prst="rect">
            <a:avLst/>
          </a:prstGeom>
        </p:spPr>
      </p:pic>
      <p:sp>
        <p:nvSpPr>
          <p:cNvPr id="20" name="Text 14"/>
          <p:cNvSpPr/>
          <p:nvPr/>
        </p:nvSpPr>
        <p:spPr>
          <a:xfrm>
            <a:off x="713232" y="5394960"/>
            <a:ext cx="3176016" cy="868680"/>
          </a:xfrm>
          <a:prstGeom prst="rect">
            <a:avLst/>
          </a:prstGeom>
          <a:noFill/>
          <a:ln/>
        </p:spPr>
        <p:txBody>
          <a:bodyPr wrap="square" rtlCol="0" anchor="ctr"/>
          <a:lstStyle/>
          <a:p>
            <a:pPr marL="0" indent="0">
              <a:lnSpc>
                <a:spcPct val="115000"/>
              </a:lnSpc>
              <a:buNone/>
            </a:pPr>
            <a:r>
              <a:rPr lang="en-US" sz="1100" dirty="0">
                <a:solidFill>
                  <a:srgbClr val="142433"/>
                </a:solidFill>
                <a:latin typeface="Calibri" pitchFamily="34" charset="0"/>
                <a:ea typeface="Calibri" pitchFamily="34" charset="-122"/>
                <a:cs typeface="Calibri" pitchFamily="34" charset="-120"/>
              </a:rPr>
              <a:t>Verify high-value or unusual requests through a separate, pre-agreed channel before acting</a:t>
            </a:r>
            <a:endParaRPr lang="en-US" sz="1100" dirty="0"/>
          </a:p>
        </p:txBody>
      </p:sp>
      <p:sp>
        <p:nvSpPr>
          <p:cNvPr id="21" name="Shape 15"/>
          <p:cNvSpPr/>
          <p:nvPr/>
        </p:nvSpPr>
        <p:spPr>
          <a:xfrm>
            <a:off x="4328160" y="4937760"/>
            <a:ext cx="3505200" cy="1417320"/>
          </a:xfrm>
          <a:prstGeom prst="roundRect">
            <a:avLst>
              <a:gd name="adj" fmla="val 5161"/>
            </a:avLst>
          </a:prstGeom>
          <a:solidFill>
            <a:srgbClr val="F1F5F8"/>
          </a:solidFill>
          <a:ln w="12700">
            <a:solidFill>
              <a:srgbClr val="DCE4EA"/>
            </a:solidFill>
            <a:prstDash val="solid"/>
          </a:ln>
        </p:spPr>
      </p:sp>
      <p:pic>
        <p:nvPicPr>
          <p:cNvPr id="22" name="Image 4" descr="check.png"/>
          <p:cNvPicPr>
            <a:picLocks noChangeAspect="1"/>
          </p:cNvPicPr>
          <p:nvPr/>
        </p:nvPicPr>
        <p:blipFill>
          <a:blip r:embed="rId6"/>
          <a:stretch>
            <a:fillRect/>
          </a:stretch>
        </p:blipFill>
        <p:spPr>
          <a:xfrm>
            <a:off x="4492752" y="5102352"/>
            <a:ext cx="256032" cy="256032"/>
          </a:xfrm>
          <a:prstGeom prst="rect">
            <a:avLst/>
          </a:prstGeom>
        </p:spPr>
      </p:pic>
      <p:sp>
        <p:nvSpPr>
          <p:cNvPr id="23" name="Text 16"/>
          <p:cNvSpPr/>
          <p:nvPr/>
        </p:nvSpPr>
        <p:spPr>
          <a:xfrm>
            <a:off x="4492752" y="5394960"/>
            <a:ext cx="3176016" cy="868680"/>
          </a:xfrm>
          <a:prstGeom prst="rect">
            <a:avLst/>
          </a:prstGeom>
          <a:noFill/>
          <a:ln/>
        </p:spPr>
        <p:txBody>
          <a:bodyPr wrap="square" rtlCol="0" anchor="ctr"/>
          <a:lstStyle/>
          <a:p>
            <a:pPr marL="0" indent="0">
              <a:lnSpc>
                <a:spcPct val="115000"/>
              </a:lnSpc>
              <a:buNone/>
            </a:pPr>
            <a:r>
              <a:rPr lang="en-US" sz="1100" dirty="0">
                <a:solidFill>
                  <a:srgbClr val="142433"/>
                </a:solidFill>
                <a:latin typeface="Calibri" pitchFamily="34" charset="0"/>
                <a:ea typeface="Calibri" pitchFamily="34" charset="-122"/>
                <a:cs typeface="Calibri" pitchFamily="34" charset="-120"/>
              </a:rPr>
              <a:t>Run regular security awareness training covering deepfake and voice-cloning tactics</a:t>
            </a:r>
            <a:endParaRPr lang="en-US" sz="1100" dirty="0"/>
          </a:p>
        </p:txBody>
      </p:sp>
      <p:sp>
        <p:nvSpPr>
          <p:cNvPr id="24" name="Shape 17"/>
          <p:cNvSpPr/>
          <p:nvPr/>
        </p:nvSpPr>
        <p:spPr>
          <a:xfrm>
            <a:off x="8107680" y="4937760"/>
            <a:ext cx="3505200" cy="1417320"/>
          </a:xfrm>
          <a:prstGeom prst="roundRect">
            <a:avLst>
              <a:gd name="adj" fmla="val 5161"/>
            </a:avLst>
          </a:prstGeom>
          <a:solidFill>
            <a:srgbClr val="F1F5F8"/>
          </a:solidFill>
          <a:ln w="12700">
            <a:solidFill>
              <a:srgbClr val="DCE4EA"/>
            </a:solidFill>
            <a:prstDash val="solid"/>
          </a:ln>
        </p:spPr>
      </p:sp>
      <p:pic>
        <p:nvPicPr>
          <p:cNvPr id="25" name="Image 5" descr="check.png"/>
          <p:cNvPicPr>
            <a:picLocks noChangeAspect="1"/>
          </p:cNvPicPr>
          <p:nvPr/>
        </p:nvPicPr>
        <p:blipFill>
          <a:blip r:embed="rId6"/>
          <a:stretch>
            <a:fillRect/>
          </a:stretch>
        </p:blipFill>
        <p:spPr>
          <a:xfrm>
            <a:off x="8272272" y="5102352"/>
            <a:ext cx="256032" cy="256032"/>
          </a:xfrm>
          <a:prstGeom prst="rect">
            <a:avLst/>
          </a:prstGeom>
        </p:spPr>
      </p:pic>
      <p:sp>
        <p:nvSpPr>
          <p:cNvPr id="26" name="Text 18"/>
          <p:cNvSpPr/>
          <p:nvPr/>
        </p:nvSpPr>
        <p:spPr>
          <a:xfrm>
            <a:off x="8272272" y="5394960"/>
            <a:ext cx="3176016" cy="868680"/>
          </a:xfrm>
          <a:prstGeom prst="rect">
            <a:avLst/>
          </a:prstGeom>
          <a:noFill/>
          <a:ln/>
        </p:spPr>
        <p:txBody>
          <a:bodyPr wrap="square" rtlCol="0" anchor="ctr"/>
          <a:lstStyle/>
          <a:p>
            <a:pPr marL="0" indent="0">
              <a:lnSpc>
                <a:spcPct val="115000"/>
              </a:lnSpc>
              <a:buNone/>
            </a:pPr>
            <a:r>
              <a:rPr lang="en-US" sz="1100" dirty="0">
                <a:solidFill>
                  <a:srgbClr val="142433"/>
                </a:solidFill>
                <a:latin typeface="Calibri" pitchFamily="34" charset="0"/>
                <a:ea typeface="Calibri" pitchFamily="34" charset="-122"/>
                <a:cs typeface="Calibri" pitchFamily="34" charset="-120"/>
              </a:rPr>
              <a:t>Require multi-person / multi-factor approval for financial transactions above a threshold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85800" cy="685800"/>
          </a:xfrm>
          <a:prstGeom prst="ellipse">
            <a:avLst/>
          </a:prstGeom>
          <a:solidFill>
            <a:srgbClr val="E63946"/>
          </a:solidFill>
          <a:ln/>
        </p:spPr>
      </p:sp>
      <p:pic>
        <p:nvPicPr>
          <p:cNvPr id="3" name="Image 0" descr="lock.png"/>
          <p:cNvPicPr>
            <a:picLocks noChangeAspect="1"/>
          </p:cNvPicPr>
          <p:nvPr/>
        </p:nvPicPr>
        <p:blipFill>
          <a:blip r:embed="rId3"/>
          <a:stretch>
            <a:fillRect/>
          </a:stretch>
        </p:blipFill>
        <p:spPr>
          <a:xfrm>
            <a:off x="722376" y="630936"/>
            <a:ext cx="338328" cy="338328"/>
          </a:xfrm>
          <a:prstGeom prst="rect">
            <a:avLst/>
          </a:prstGeom>
        </p:spPr>
      </p:pic>
      <p:sp>
        <p:nvSpPr>
          <p:cNvPr id="4" name="Text 1"/>
          <p:cNvSpPr/>
          <p:nvPr/>
        </p:nvSpPr>
        <p:spPr>
          <a:xfrm>
            <a:off x="1417320" y="457200"/>
            <a:ext cx="4572000" cy="274320"/>
          </a:xfrm>
          <a:prstGeom prst="rect">
            <a:avLst/>
          </a:prstGeom>
          <a:noFill/>
          <a:ln/>
        </p:spPr>
        <p:txBody>
          <a:bodyPr wrap="square" rtlCol="0" anchor="ctr"/>
          <a:lstStyle/>
          <a:p>
            <a:pPr marL="0" indent="0">
              <a:buNone/>
            </a:pPr>
            <a:r>
              <a:rPr lang="en-US" sz="1100" b="1" kern="0" spc="200" dirty="0">
                <a:solidFill>
                  <a:srgbClr val="E63946"/>
                </a:solidFill>
                <a:latin typeface="Calibri" pitchFamily="34" charset="0"/>
                <a:ea typeface="Calibri" pitchFamily="34" charset="-122"/>
                <a:cs typeface="Calibri" pitchFamily="34" charset="-120"/>
              </a:rPr>
              <a:t>THREAT 2 / 5</a:t>
            </a:r>
            <a:endParaRPr lang="en-US" sz="1100" dirty="0"/>
          </a:p>
        </p:txBody>
      </p:sp>
      <p:sp>
        <p:nvSpPr>
          <p:cNvPr id="5" name="Text 2"/>
          <p:cNvSpPr/>
          <p:nvPr/>
        </p:nvSpPr>
        <p:spPr>
          <a:xfrm>
            <a:off x="1417320" y="713232"/>
            <a:ext cx="9601200" cy="502920"/>
          </a:xfrm>
          <a:prstGeom prst="rect">
            <a:avLst/>
          </a:prstGeom>
          <a:noFill/>
          <a:ln/>
        </p:spPr>
        <p:txBody>
          <a:bodyPr wrap="square" rtlCol="0" anchor="ctr"/>
          <a:lstStyle/>
          <a:p>
            <a:pPr marL="0" indent="0">
              <a:buNone/>
            </a:pPr>
            <a:r>
              <a:rPr lang="en-US" sz="2400" b="1" dirty="0">
                <a:solidFill>
                  <a:srgbClr val="142433"/>
                </a:solidFill>
                <a:latin typeface="Cambria" pitchFamily="34" charset="0"/>
                <a:ea typeface="Cambria" pitchFamily="34" charset="-122"/>
                <a:cs typeface="Cambria" pitchFamily="34" charset="-120"/>
              </a:rPr>
              <a:t>Ransomware-as-a-Service (RaaS)</a:t>
            </a:r>
            <a:endParaRPr lang="en-US" sz="2400" dirty="0"/>
          </a:p>
        </p:txBody>
      </p:sp>
      <p:sp>
        <p:nvSpPr>
          <p:cNvPr id="6" name="Text 3"/>
          <p:cNvSpPr/>
          <p:nvPr/>
        </p:nvSpPr>
        <p:spPr>
          <a:xfrm>
            <a:off x="548640" y="1417320"/>
            <a:ext cx="11064240" cy="777240"/>
          </a:xfrm>
          <a:prstGeom prst="rect">
            <a:avLst/>
          </a:prstGeom>
          <a:noFill/>
          <a:ln/>
        </p:spPr>
        <p:txBody>
          <a:bodyPr wrap="square" rtlCol="0" anchor="ctr"/>
          <a:lstStyle/>
          <a:p>
            <a:pPr marL="0" indent="0">
              <a:lnSpc>
                <a:spcPct val="120000"/>
              </a:lnSpc>
              <a:buNone/>
            </a:pPr>
            <a:r>
              <a:rPr lang="en-US" sz="1300" dirty="0">
                <a:solidFill>
                  <a:srgbClr val="5C6B7A"/>
                </a:solidFill>
                <a:latin typeface="Calibri" pitchFamily="34" charset="0"/>
                <a:ea typeface="Calibri" pitchFamily="34" charset="-122"/>
                <a:cs typeface="Calibri" pitchFamily="34" charset="-120"/>
              </a:rPr>
              <a:t>Criminal groups build ready-made ransomware toolkits and lease them to affiliates for a share of the profits — turning a once-technical attack into a subscription service that anyone can rent and deploy.</a:t>
            </a:r>
            <a:endParaRPr lang="en-US" sz="1300" dirty="0"/>
          </a:p>
        </p:txBody>
      </p:sp>
      <p:sp>
        <p:nvSpPr>
          <p:cNvPr id="7" name="Shape 4"/>
          <p:cNvSpPr/>
          <p:nvPr/>
        </p:nvSpPr>
        <p:spPr>
          <a:xfrm>
            <a:off x="548640" y="2331720"/>
            <a:ext cx="5394960" cy="2011680"/>
          </a:xfrm>
          <a:prstGeom prst="roundRect">
            <a:avLst>
              <a:gd name="adj" fmla="val 4545"/>
            </a:avLst>
          </a:prstGeom>
          <a:solidFill>
            <a:srgbClr val="F1F5F8"/>
          </a:solidFill>
          <a:ln/>
        </p:spPr>
      </p:sp>
      <p:sp>
        <p:nvSpPr>
          <p:cNvPr id="8" name="Text 5"/>
          <p:cNvSpPr/>
          <p:nvPr/>
        </p:nvSpPr>
        <p:spPr>
          <a:xfrm>
            <a:off x="777240" y="2468880"/>
            <a:ext cx="4572000" cy="274320"/>
          </a:xfrm>
          <a:prstGeom prst="rect">
            <a:avLst/>
          </a:prstGeom>
          <a:noFill/>
          <a:ln/>
        </p:spPr>
        <p:txBody>
          <a:bodyPr wrap="square" rtlCol="0" anchor="ctr"/>
          <a:lstStyle/>
          <a:p>
            <a:pPr marL="0" indent="0">
              <a:buNone/>
            </a:pPr>
            <a:r>
              <a:rPr lang="en-US" sz="1100" b="1" kern="0" spc="200" dirty="0">
                <a:solidFill>
                  <a:srgbClr val="0B1F3A"/>
                </a:solidFill>
                <a:latin typeface="Calibri" pitchFamily="34" charset="0"/>
                <a:ea typeface="Calibri" pitchFamily="34" charset="-122"/>
                <a:cs typeface="Calibri" pitchFamily="34" charset="-120"/>
              </a:rPr>
              <a:t>IMPACT</a:t>
            </a:r>
            <a:endParaRPr lang="en-US" sz="1100" dirty="0"/>
          </a:p>
        </p:txBody>
      </p:sp>
      <p:pic>
        <p:nvPicPr>
          <p:cNvPr id="9" name="Image 1" descr="user.png"/>
          <p:cNvPicPr>
            <a:picLocks noChangeAspect="1"/>
          </p:cNvPicPr>
          <p:nvPr/>
        </p:nvPicPr>
        <p:blipFill>
          <a:blip r:embed="rId4"/>
          <a:stretch>
            <a:fillRect/>
          </a:stretch>
        </p:blipFill>
        <p:spPr>
          <a:xfrm>
            <a:off x="777240" y="2834640"/>
            <a:ext cx="274320" cy="274320"/>
          </a:xfrm>
          <a:prstGeom prst="rect">
            <a:avLst/>
          </a:prstGeom>
        </p:spPr>
      </p:pic>
      <p:sp>
        <p:nvSpPr>
          <p:cNvPr id="10" name="Text 6"/>
          <p:cNvSpPr/>
          <p:nvPr/>
        </p:nvSpPr>
        <p:spPr>
          <a:xfrm>
            <a:off x="1188720" y="2761488"/>
            <a:ext cx="4617720" cy="640080"/>
          </a:xfrm>
          <a:prstGeom prst="rect">
            <a:avLst/>
          </a:prstGeom>
          <a:noFill/>
          <a:ln/>
        </p:spPr>
        <p:txBody>
          <a:bodyPr wrap="square" rtlCol="0" anchor="t"/>
          <a:lstStyle/>
          <a:p>
            <a:pPr marL="0" indent="0">
              <a:lnSpc>
                <a:spcPct val="115000"/>
              </a:lnSpc>
              <a:buNone/>
            </a:pPr>
            <a:r>
              <a:rPr lang="en-US" sz="1150" b="1" dirty="0">
                <a:solidFill>
                  <a:srgbClr val="142433"/>
                </a:solidFill>
                <a:latin typeface="Calibri" pitchFamily="34" charset="0"/>
                <a:ea typeface="Calibri" pitchFamily="34" charset="-122"/>
                <a:cs typeface="Calibri" pitchFamily="34" charset="-120"/>
              </a:rPr>
              <a:t>Individuals: </a:t>
            </a:r>
            <a:r>
              <a:rPr lang="en-US" sz="1150" dirty="0">
                <a:solidFill>
                  <a:srgbClr val="5C6B7A"/>
                </a:solidFill>
                <a:latin typeface="Calibri" pitchFamily="34" charset="0"/>
                <a:ea typeface="Calibri" pitchFamily="34" charset="-122"/>
                <a:cs typeface="Calibri" pitchFamily="34" charset="-120"/>
              </a:rPr>
              <a:t>Personal files, photos, and documents encrypted and held for ransom; leaked data used for identity fraud.</a:t>
            </a:r>
            <a:endParaRPr lang="en-US" sz="1150" dirty="0"/>
          </a:p>
        </p:txBody>
      </p:sp>
      <p:pic>
        <p:nvPicPr>
          <p:cNvPr id="11" name="Image 2" descr="building.png"/>
          <p:cNvPicPr>
            <a:picLocks noChangeAspect="1"/>
          </p:cNvPicPr>
          <p:nvPr/>
        </p:nvPicPr>
        <p:blipFill>
          <a:blip r:embed="rId5"/>
          <a:stretch>
            <a:fillRect/>
          </a:stretch>
        </p:blipFill>
        <p:spPr>
          <a:xfrm>
            <a:off x="777240" y="3520440"/>
            <a:ext cx="274320" cy="274320"/>
          </a:xfrm>
          <a:prstGeom prst="rect">
            <a:avLst/>
          </a:prstGeom>
        </p:spPr>
      </p:pic>
      <p:sp>
        <p:nvSpPr>
          <p:cNvPr id="12" name="Text 7"/>
          <p:cNvSpPr/>
          <p:nvPr/>
        </p:nvSpPr>
        <p:spPr>
          <a:xfrm>
            <a:off x="1188720" y="3447288"/>
            <a:ext cx="4617720" cy="777240"/>
          </a:xfrm>
          <a:prstGeom prst="rect">
            <a:avLst/>
          </a:prstGeom>
          <a:noFill/>
          <a:ln/>
        </p:spPr>
        <p:txBody>
          <a:bodyPr wrap="square" rtlCol="0" anchor="t"/>
          <a:lstStyle/>
          <a:p>
            <a:pPr marL="0" indent="0">
              <a:lnSpc>
                <a:spcPct val="115000"/>
              </a:lnSpc>
              <a:buNone/>
            </a:pPr>
            <a:r>
              <a:rPr lang="en-US" sz="1150" b="1" dirty="0">
                <a:solidFill>
                  <a:srgbClr val="142433"/>
                </a:solidFill>
                <a:latin typeface="Calibri" pitchFamily="34" charset="0"/>
                <a:ea typeface="Calibri" pitchFamily="34" charset="-122"/>
                <a:cs typeface="Calibri" pitchFamily="34" charset="-120"/>
              </a:rPr>
              <a:t>Organizations: </a:t>
            </a:r>
            <a:r>
              <a:rPr lang="en-US" sz="1150" dirty="0">
                <a:solidFill>
                  <a:srgbClr val="5C6B7A"/>
                </a:solidFill>
                <a:latin typeface="Calibri" pitchFamily="34" charset="0"/>
                <a:ea typeface="Calibri" pitchFamily="34" charset="-122"/>
                <a:cs typeface="Calibri" pitchFamily="34" charset="-120"/>
              </a:rPr>
              <a:t>Operational downtime, permanent data loss, costly ransom payments, and regulatory penalties for exposed data.</a:t>
            </a:r>
            <a:endParaRPr lang="en-US" sz="1150" dirty="0"/>
          </a:p>
        </p:txBody>
      </p:sp>
      <p:sp>
        <p:nvSpPr>
          <p:cNvPr id="13" name="Shape 8"/>
          <p:cNvSpPr/>
          <p:nvPr/>
        </p:nvSpPr>
        <p:spPr>
          <a:xfrm>
            <a:off x="6172200" y="2331720"/>
            <a:ext cx="5440680" cy="2011680"/>
          </a:xfrm>
          <a:prstGeom prst="roundRect">
            <a:avLst>
              <a:gd name="adj" fmla="val 4545"/>
            </a:avLst>
          </a:prstGeom>
          <a:solidFill>
            <a:srgbClr val="0B1F3A"/>
          </a:solidFill>
          <a:ln/>
        </p:spPr>
      </p:sp>
      <p:sp>
        <p:nvSpPr>
          <p:cNvPr id="14" name="Text 9"/>
          <p:cNvSpPr/>
          <p:nvPr/>
        </p:nvSpPr>
        <p:spPr>
          <a:xfrm>
            <a:off x="6400800" y="2468880"/>
            <a:ext cx="5029200" cy="274320"/>
          </a:xfrm>
          <a:prstGeom prst="rect">
            <a:avLst/>
          </a:prstGeom>
          <a:noFill/>
          <a:ln/>
        </p:spPr>
        <p:txBody>
          <a:bodyPr wrap="square" rtlCol="0" anchor="ctr"/>
          <a:lstStyle/>
          <a:p>
            <a:pPr marL="0" indent="0">
              <a:buNone/>
            </a:pPr>
            <a:r>
              <a:rPr lang="en-US" sz="1100" b="1" kern="0" spc="200" dirty="0">
                <a:solidFill>
                  <a:srgbClr val="00B4D8"/>
                </a:solidFill>
                <a:latin typeface="Calibri" pitchFamily="34" charset="0"/>
                <a:ea typeface="Calibri" pitchFamily="34" charset="-122"/>
                <a:cs typeface="Calibri" pitchFamily="34" charset="-120"/>
              </a:rPr>
              <a:t>REAL-WORLD CASE STUDY</a:t>
            </a:r>
            <a:endParaRPr lang="en-US" sz="1100" dirty="0"/>
          </a:p>
        </p:txBody>
      </p:sp>
      <p:sp>
        <p:nvSpPr>
          <p:cNvPr id="15" name="Text 10"/>
          <p:cNvSpPr/>
          <p:nvPr/>
        </p:nvSpPr>
        <p:spPr>
          <a:xfrm>
            <a:off x="6400800" y="2743200"/>
            <a:ext cx="50292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Colonial Pipeline Attack (2021)</a:t>
            </a:r>
            <a:endParaRPr lang="en-US" sz="1400" dirty="0"/>
          </a:p>
        </p:txBody>
      </p:sp>
      <p:sp>
        <p:nvSpPr>
          <p:cNvPr id="16" name="Text 11"/>
          <p:cNvSpPr/>
          <p:nvPr/>
        </p:nvSpPr>
        <p:spPr>
          <a:xfrm>
            <a:off x="6400800" y="3108960"/>
            <a:ext cx="5029200" cy="1143000"/>
          </a:xfrm>
          <a:prstGeom prst="rect">
            <a:avLst/>
          </a:prstGeom>
          <a:noFill/>
          <a:ln/>
        </p:spPr>
        <p:txBody>
          <a:bodyPr wrap="square" rtlCol="0" anchor="ctr"/>
          <a:lstStyle/>
          <a:p>
            <a:pPr marL="0" indent="0">
              <a:lnSpc>
                <a:spcPct val="120000"/>
              </a:lnSpc>
              <a:buNone/>
            </a:pPr>
            <a:r>
              <a:rPr lang="en-US" sz="1150" dirty="0">
                <a:solidFill>
                  <a:srgbClr val="D6E2ED"/>
                </a:solidFill>
                <a:latin typeface="Calibri" pitchFamily="34" charset="0"/>
                <a:ea typeface="Calibri" pitchFamily="34" charset="-122"/>
                <a:cs typeface="Calibri" pitchFamily="34" charset="-120"/>
              </a:rPr>
              <a:t>The DarkSide RaaS group's affiliate breached Colonial Pipeline's network, forcing a shutdown of a major U.S. fuel pipeline for several days and disrupting fuel supply across the East Coast. The company paid roughly $4.4M in ransom.</a:t>
            </a:r>
            <a:endParaRPr lang="en-US" sz="1150" dirty="0"/>
          </a:p>
        </p:txBody>
      </p:sp>
      <p:sp>
        <p:nvSpPr>
          <p:cNvPr id="17" name="Text 12"/>
          <p:cNvSpPr/>
          <p:nvPr/>
        </p:nvSpPr>
        <p:spPr>
          <a:xfrm>
            <a:off x="548640" y="4572000"/>
            <a:ext cx="5486400" cy="274320"/>
          </a:xfrm>
          <a:prstGeom prst="rect">
            <a:avLst/>
          </a:prstGeom>
          <a:noFill/>
          <a:ln/>
        </p:spPr>
        <p:txBody>
          <a:bodyPr wrap="square" rtlCol="0" anchor="ctr"/>
          <a:lstStyle/>
          <a:p>
            <a:pPr marL="0" indent="0">
              <a:buNone/>
            </a:pPr>
            <a:r>
              <a:rPr lang="en-US" sz="1100" b="1" kern="0" spc="200" dirty="0">
                <a:solidFill>
                  <a:srgbClr val="0B1F3A"/>
                </a:solidFill>
                <a:latin typeface="Calibri" pitchFamily="34" charset="0"/>
                <a:ea typeface="Calibri" pitchFamily="34" charset="-122"/>
                <a:cs typeface="Calibri" pitchFamily="34" charset="-120"/>
              </a:rPr>
              <a:t>PREVENTIVE MEASURES</a:t>
            </a:r>
            <a:endParaRPr lang="en-US" sz="1100" dirty="0"/>
          </a:p>
        </p:txBody>
      </p:sp>
      <p:sp>
        <p:nvSpPr>
          <p:cNvPr id="18" name="Shape 13"/>
          <p:cNvSpPr/>
          <p:nvPr/>
        </p:nvSpPr>
        <p:spPr>
          <a:xfrm>
            <a:off x="548640" y="4937760"/>
            <a:ext cx="3505200" cy="1417320"/>
          </a:xfrm>
          <a:prstGeom prst="roundRect">
            <a:avLst>
              <a:gd name="adj" fmla="val 5161"/>
            </a:avLst>
          </a:prstGeom>
          <a:solidFill>
            <a:srgbClr val="F1F5F8"/>
          </a:solidFill>
          <a:ln w="12700">
            <a:solidFill>
              <a:srgbClr val="DCE4EA"/>
            </a:solidFill>
            <a:prstDash val="solid"/>
          </a:ln>
        </p:spPr>
      </p:sp>
      <p:pic>
        <p:nvPicPr>
          <p:cNvPr id="19" name="Image 3" descr="check.png"/>
          <p:cNvPicPr>
            <a:picLocks noChangeAspect="1"/>
          </p:cNvPicPr>
          <p:nvPr/>
        </p:nvPicPr>
        <p:blipFill>
          <a:blip r:embed="rId6"/>
          <a:stretch>
            <a:fillRect/>
          </a:stretch>
        </p:blipFill>
        <p:spPr>
          <a:xfrm>
            <a:off x="713232" y="5102352"/>
            <a:ext cx="256032" cy="256032"/>
          </a:xfrm>
          <a:prstGeom prst="rect">
            <a:avLst/>
          </a:prstGeom>
        </p:spPr>
      </p:pic>
      <p:sp>
        <p:nvSpPr>
          <p:cNvPr id="20" name="Text 14"/>
          <p:cNvSpPr/>
          <p:nvPr/>
        </p:nvSpPr>
        <p:spPr>
          <a:xfrm>
            <a:off x="713232" y="5394960"/>
            <a:ext cx="3176016" cy="868680"/>
          </a:xfrm>
          <a:prstGeom prst="rect">
            <a:avLst/>
          </a:prstGeom>
          <a:noFill/>
          <a:ln/>
        </p:spPr>
        <p:txBody>
          <a:bodyPr wrap="square" rtlCol="0" anchor="ctr"/>
          <a:lstStyle/>
          <a:p>
            <a:pPr marL="0" indent="0">
              <a:lnSpc>
                <a:spcPct val="115000"/>
              </a:lnSpc>
              <a:buNone/>
            </a:pPr>
            <a:r>
              <a:rPr lang="en-US" sz="1100" dirty="0">
                <a:solidFill>
                  <a:srgbClr val="142433"/>
                </a:solidFill>
                <a:latin typeface="Calibri" pitchFamily="34" charset="0"/>
                <a:ea typeface="Calibri" pitchFamily="34" charset="-122"/>
                <a:cs typeface="Calibri" pitchFamily="34" charset="-120"/>
              </a:rPr>
              <a:t>Maintain regular, offline / immutable backups and test recovery procedures</a:t>
            </a:r>
            <a:endParaRPr lang="en-US" sz="1100" dirty="0"/>
          </a:p>
        </p:txBody>
      </p:sp>
      <p:sp>
        <p:nvSpPr>
          <p:cNvPr id="21" name="Shape 15"/>
          <p:cNvSpPr/>
          <p:nvPr/>
        </p:nvSpPr>
        <p:spPr>
          <a:xfrm>
            <a:off x="4328160" y="4937760"/>
            <a:ext cx="3505200" cy="1417320"/>
          </a:xfrm>
          <a:prstGeom prst="roundRect">
            <a:avLst>
              <a:gd name="adj" fmla="val 5161"/>
            </a:avLst>
          </a:prstGeom>
          <a:solidFill>
            <a:srgbClr val="F1F5F8"/>
          </a:solidFill>
          <a:ln w="12700">
            <a:solidFill>
              <a:srgbClr val="DCE4EA"/>
            </a:solidFill>
            <a:prstDash val="solid"/>
          </a:ln>
        </p:spPr>
      </p:sp>
      <p:pic>
        <p:nvPicPr>
          <p:cNvPr id="22" name="Image 4" descr="check.png"/>
          <p:cNvPicPr>
            <a:picLocks noChangeAspect="1"/>
          </p:cNvPicPr>
          <p:nvPr/>
        </p:nvPicPr>
        <p:blipFill>
          <a:blip r:embed="rId6"/>
          <a:stretch>
            <a:fillRect/>
          </a:stretch>
        </p:blipFill>
        <p:spPr>
          <a:xfrm>
            <a:off x="4492752" y="5102352"/>
            <a:ext cx="256032" cy="256032"/>
          </a:xfrm>
          <a:prstGeom prst="rect">
            <a:avLst/>
          </a:prstGeom>
        </p:spPr>
      </p:pic>
      <p:sp>
        <p:nvSpPr>
          <p:cNvPr id="23" name="Text 16"/>
          <p:cNvSpPr/>
          <p:nvPr/>
        </p:nvSpPr>
        <p:spPr>
          <a:xfrm>
            <a:off x="4492752" y="5394960"/>
            <a:ext cx="3176016" cy="868680"/>
          </a:xfrm>
          <a:prstGeom prst="rect">
            <a:avLst/>
          </a:prstGeom>
          <a:noFill/>
          <a:ln/>
        </p:spPr>
        <p:txBody>
          <a:bodyPr wrap="square" rtlCol="0" anchor="ctr"/>
          <a:lstStyle/>
          <a:p>
            <a:pPr marL="0" indent="0">
              <a:lnSpc>
                <a:spcPct val="115000"/>
              </a:lnSpc>
              <a:buNone/>
            </a:pPr>
            <a:r>
              <a:rPr lang="en-US" sz="1100" dirty="0">
                <a:solidFill>
                  <a:srgbClr val="142433"/>
                </a:solidFill>
                <a:latin typeface="Calibri" pitchFamily="34" charset="0"/>
                <a:ea typeface="Calibri" pitchFamily="34" charset="-122"/>
                <a:cs typeface="Calibri" pitchFamily="34" charset="-120"/>
              </a:rPr>
              <a:t>Adopt a Zero Trust model with network segmentation to limit lateral movement</a:t>
            </a:r>
            <a:endParaRPr lang="en-US" sz="1100" dirty="0"/>
          </a:p>
        </p:txBody>
      </p:sp>
      <p:sp>
        <p:nvSpPr>
          <p:cNvPr id="24" name="Shape 17"/>
          <p:cNvSpPr/>
          <p:nvPr/>
        </p:nvSpPr>
        <p:spPr>
          <a:xfrm>
            <a:off x="8107680" y="4937760"/>
            <a:ext cx="3505200" cy="1417320"/>
          </a:xfrm>
          <a:prstGeom prst="roundRect">
            <a:avLst>
              <a:gd name="adj" fmla="val 5161"/>
            </a:avLst>
          </a:prstGeom>
          <a:solidFill>
            <a:srgbClr val="F1F5F8"/>
          </a:solidFill>
          <a:ln w="12700">
            <a:solidFill>
              <a:srgbClr val="DCE4EA"/>
            </a:solidFill>
            <a:prstDash val="solid"/>
          </a:ln>
        </p:spPr>
      </p:sp>
      <p:pic>
        <p:nvPicPr>
          <p:cNvPr id="25" name="Image 5" descr="check.png"/>
          <p:cNvPicPr>
            <a:picLocks noChangeAspect="1"/>
          </p:cNvPicPr>
          <p:nvPr/>
        </p:nvPicPr>
        <p:blipFill>
          <a:blip r:embed="rId6"/>
          <a:stretch>
            <a:fillRect/>
          </a:stretch>
        </p:blipFill>
        <p:spPr>
          <a:xfrm>
            <a:off x="8272272" y="5102352"/>
            <a:ext cx="256032" cy="256032"/>
          </a:xfrm>
          <a:prstGeom prst="rect">
            <a:avLst/>
          </a:prstGeom>
        </p:spPr>
      </p:pic>
      <p:sp>
        <p:nvSpPr>
          <p:cNvPr id="26" name="Text 18"/>
          <p:cNvSpPr/>
          <p:nvPr/>
        </p:nvSpPr>
        <p:spPr>
          <a:xfrm>
            <a:off x="8272272" y="5394960"/>
            <a:ext cx="3176016" cy="868680"/>
          </a:xfrm>
          <a:prstGeom prst="rect">
            <a:avLst/>
          </a:prstGeom>
          <a:noFill/>
          <a:ln/>
        </p:spPr>
        <p:txBody>
          <a:bodyPr wrap="square" rtlCol="0" anchor="ctr"/>
          <a:lstStyle/>
          <a:p>
            <a:pPr marL="0" indent="0">
              <a:lnSpc>
                <a:spcPct val="115000"/>
              </a:lnSpc>
              <a:buNone/>
            </a:pPr>
            <a:r>
              <a:rPr lang="en-US" sz="1100" dirty="0">
                <a:solidFill>
                  <a:srgbClr val="142433"/>
                </a:solidFill>
                <a:latin typeface="Calibri" pitchFamily="34" charset="0"/>
                <a:ea typeface="Calibri" pitchFamily="34" charset="-122"/>
                <a:cs typeface="Calibri" pitchFamily="34" charset="-120"/>
              </a:rPr>
              <a:t>Deploy endpoint detection &amp; response (EDR) with a tested incident response plan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85800" cy="685800"/>
          </a:xfrm>
          <a:prstGeom prst="ellipse">
            <a:avLst/>
          </a:prstGeom>
          <a:solidFill>
            <a:srgbClr val="E63946"/>
          </a:solidFill>
          <a:ln/>
        </p:spPr>
      </p:sp>
      <p:pic>
        <p:nvPicPr>
          <p:cNvPr id="3" name="Image 0" descr="cloud.png"/>
          <p:cNvPicPr>
            <a:picLocks noChangeAspect="1"/>
          </p:cNvPicPr>
          <p:nvPr/>
        </p:nvPicPr>
        <p:blipFill>
          <a:blip r:embed="rId3"/>
          <a:stretch>
            <a:fillRect/>
          </a:stretch>
        </p:blipFill>
        <p:spPr>
          <a:xfrm>
            <a:off x="722376" y="630936"/>
            <a:ext cx="338328" cy="338328"/>
          </a:xfrm>
          <a:prstGeom prst="rect">
            <a:avLst/>
          </a:prstGeom>
        </p:spPr>
      </p:pic>
      <p:sp>
        <p:nvSpPr>
          <p:cNvPr id="4" name="Text 1"/>
          <p:cNvSpPr/>
          <p:nvPr/>
        </p:nvSpPr>
        <p:spPr>
          <a:xfrm>
            <a:off x="1417320" y="457200"/>
            <a:ext cx="4572000" cy="274320"/>
          </a:xfrm>
          <a:prstGeom prst="rect">
            <a:avLst/>
          </a:prstGeom>
          <a:noFill/>
          <a:ln/>
        </p:spPr>
        <p:txBody>
          <a:bodyPr wrap="square" rtlCol="0" anchor="ctr"/>
          <a:lstStyle/>
          <a:p>
            <a:pPr marL="0" indent="0">
              <a:buNone/>
            </a:pPr>
            <a:r>
              <a:rPr lang="en-US" sz="1100" b="1" kern="0" spc="200" dirty="0">
                <a:solidFill>
                  <a:srgbClr val="E63946"/>
                </a:solidFill>
                <a:latin typeface="Calibri" pitchFamily="34" charset="0"/>
                <a:ea typeface="Calibri" pitchFamily="34" charset="-122"/>
                <a:cs typeface="Calibri" pitchFamily="34" charset="-120"/>
              </a:rPr>
              <a:t>THREAT 3 / 5</a:t>
            </a:r>
            <a:endParaRPr lang="en-US" sz="1100" dirty="0"/>
          </a:p>
        </p:txBody>
      </p:sp>
      <p:sp>
        <p:nvSpPr>
          <p:cNvPr id="5" name="Text 2"/>
          <p:cNvSpPr/>
          <p:nvPr/>
        </p:nvSpPr>
        <p:spPr>
          <a:xfrm>
            <a:off x="1417320" y="713232"/>
            <a:ext cx="9601200" cy="502920"/>
          </a:xfrm>
          <a:prstGeom prst="rect">
            <a:avLst/>
          </a:prstGeom>
          <a:noFill/>
          <a:ln/>
        </p:spPr>
        <p:txBody>
          <a:bodyPr wrap="square" rtlCol="0" anchor="ctr"/>
          <a:lstStyle/>
          <a:p>
            <a:pPr marL="0" indent="0">
              <a:buNone/>
            </a:pPr>
            <a:r>
              <a:rPr lang="en-US" sz="2400" b="1" dirty="0">
                <a:solidFill>
                  <a:srgbClr val="142433"/>
                </a:solidFill>
                <a:latin typeface="Cambria" pitchFamily="34" charset="0"/>
                <a:ea typeface="Cambria" pitchFamily="34" charset="-122"/>
                <a:cs typeface="Cambria" pitchFamily="34" charset="-120"/>
              </a:rPr>
              <a:t>Cloud Security Misconfigurations</a:t>
            </a:r>
            <a:endParaRPr lang="en-US" sz="2400" dirty="0"/>
          </a:p>
        </p:txBody>
      </p:sp>
      <p:sp>
        <p:nvSpPr>
          <p:cNvPr id="6" name="Text 3"/>
          <p:cNvSpPr/>
          <p:nvPr/>
        </p:nvSpPr>
        <p:spPr>
          <a:xfrm>
            <a:off x="548640" y="1417320"/>
            <a:ext cx="11064240" cy="777240"/>
          </a:xfrm>
          <a:prstGeom prst="rect">
            <a:avLst/>
          </a:prstGeom>
          <a:noFill/>
          <a:ln/>
        </p:spPr>
        <p:txBody>
          <a:bodyPr wrap="square" rtlCol="0" anchor="ctr"/>
          <a:lstStyle/>
          <a:p>
            <a:pPr marL="0" indent="0">
              <a:lnSpc>
                <a:spcPct val="120000"/>
              </a:lnSpc>
              <a:buNone/>
            </a:pPr>
            <a:r>
              <a:rPr lang="en-US" sz="1300" dirty="0">
                <a:solidFill>
                  <a:srgbClr val="5C6B7A"/>
                </a:solidFill>
                <a:latin typeface="Calibri" pitchFamily="34" charset="0"/>
                <a:ea typeface="Calibri" pitchFamily="34" charset="-122"/>
                <a:cs typeface="Calibri" pitchFamily="34" charset="-120"/>
              </a:rPr>
              <a:t>Overly permissive access rules, exposed storage buckets, or missing encryption on AWS, Azure, and GCP leave sensitive data reachable from the open internet — no malware or exploit required, just a misconfigured setting.</a:t>
            </a:r>
            <a:endParaRPr lang="en-US" sz="1300" dirty="0"/>
          </a:p>
        </p:txBody>
      </p:sp>
      <p:sp>
        <p:nvSpPr>
          <p:cNvPr id="7" name="Shape 4"/>
          <p:cNvSpPr/>
          <p:nvPr/>
        </p:nvSpPr>
        <p:spPr>
          <a:xfrm>
            <a:off x="548640" y="2331720"/>
            <a:ext cx="5394960" cy="2011680"/>
          </a:xfrm>
          <a:prstGeom prst="roundRect">
            <a:avLst>
              <a:gd name="adj" fmla="val 4545"/>
            </a:avLst>
          </a:prstGeom>
          <a:solidFill>
            <a:srgbClr val="F1F5F8"/>
          </a:solidFill>
          <a:ln/>
        </p:spPr>
      </p:sp>
      <p:sp>
        <p:nvSpPr>
          <p:cNvPr id="8" name="Text 5"/>
          <p:cNvSpPr/>
          <p:nvPr/>
        </p:nvSpPr>
        <p:spPr>
          <a:xfrm>
            <a:off x="777240" y="2468880"/>
            <a:ext cx="4572000" cy="274320"/>
          </a:xfrm>
          <a:prstGeom prst="rect">
            <a:avLst/>
          </a:prstGeom>
          <a:noFill/>
          <a:ln/>
        </p:spPr>
        <p:txBody>
          <a:bodyPr wrap="square" rtlCol="0" anchor="ctr"/>
          <a:lstStyle/>
          <a:p>
            <a:pPr marL="0" indent="0">
              <a:buNone/>
            </a:pPr>
            <a:r>
              <a:rPr lang="en-US" sz="1100" b="1" kern="0" spc="200" dirty="0">
                <a:solidFill>
                  <a:srgbClr val="0B1F3A"/>
                </a:solidFill>
                <a:latin typeface="Calibri" pitchFamily="34" charset="0"/>
                <a:ea typeface="Calibri" pitchFamily="34" charset="-122"/>
                <a:cs typeface="Calibri" pitchFamily="34" charset="-120"/>
              </a:rPr>
              <a:t>IMPACT</a:t>
            </a:r>
            <a:endParaRPr lang="en-US" sz="1100" dirty="0"/>
          </a:p>
        </p:txBody>
      </p:sp>
      <p:pic>
        <p:nvPicPr>
          <p:cNvPr id="9" name="Image 1" descr="user.png"/>
          <p:cNvPicPr>
            <a:picLocks noChangeAspect="1"/>
          </p:cNvPicPr>
          <p:nvPr/>
        </p:nvPicPr>
        <p:blipFill>
          <a:blip r:embed="rId4"/>
          <a:stretch>
            <a:fillRect/>
          </a:stretch>
        </p:blipFill>
        <p:spPr>
          <a:xfrm>
            <a:off x="777240" y="2834640"/>
            <a:ext cx="274320" cy="274320"/>
          </a:xfrm>
          <a:prstGeom prst="rect">
            <a:avLst/>
          </a:prstGeom>
        </p:spPr>
      </p:pic>
      <p:sp>
        <p:nvSpPr>
          <p:cNvPr id="10" name="Text 6"/>
          <p:cNvSpPr/>
          <p:nvPr/>
        </p:nvSpPr>
        <p:spPr>
          <a:xfrm>
            <a:off x="1188720" y="2761488"/>
            <a:ext cx="4617720" cy="640080"/>
          </a:xfrm>
          <a:prstGeom prst="rect">
            <a:avLst/>
          </a:prstGeom>
          <a:noFill/>
          <a:ln/>
        </p:spPr>
        <p:txBody>
          <a:bodyPr wrap="square" rtlCol="0" anchor="t"/>
          <a:lstStyle/>
          <a:p>
            <a:pPr marL="0" indent="0">
              <a:lnSpc>
                <a:spcPct val="115000"/>
              </a:lnSpc>
              <a:buNone/>
            </a:pPr>
            <a:r>
              <a:rPr lang="en-US" sz="1150" b="1" dirty="0">
                <a:solidFill>
                  <a:srgbClr val="142433"/>
                </a:solidFill>
                <a:latin typeface="Calibri" pitchFamily="34" charset="0"/>
                <a:ea typeface="Calibri" pitchFamily="34" charset="-122"/>
                <a:cs typeface="Calibri" pitchFamily="34" charset="-120"/>
              </a:rPr>
              <a:t>Individuals: </a:t>
            </a:r>
            <a:r>
              <a:rPr lang="en-US" sz="1150" dirty="0">
                <a:solidFill>
                  <a:srgbClr val="5C6B7A"/>
                </a:solidFill>
                <a:latin typeface="Calibri" pitchFamily="34" charset="0"/>
                <a:ea typeface="Calibri" pitchFamily="34" charset="-122"/>
                <a:cs typeface="Calibri" pitchFamily="34" charset="-120"/>
              </a:rPr>
              <a:t>Exposure of personal records (financial details, SSNs, health data) enabling fraud and identity theft.</a:t>
            </a:r>
            <a:endParaRPr lang="en-US" sz="1150" dirty="0"/>
          </a:p>
        </p:txBody>
      </p:sp>
      <p:pic>
        <p:nvPicPr>
          <p:cNvPr id="11" name="Image 2" descr="building.png"/>
          <p:cNvPicPr>
            <a:picLocks noChangeAspect="1"/>
          </p:cNvPicPr>
          <p:nvPr/>
        </p:nvPicPr>
        <p:blipFill>
          <a:blip r:embed="rId5"/>
          <a:stretch>
            <a:fillRect/>
          </a:stretch>
        </p:blipFill>
        <p:spPr>
          <a:xfrm>
            <a:off x="777240" y="3520440"/>
            <a:ext cx="274320" cy="274320"/>
          </a:xfrm>
          <a:prstGeom prst="rect">
            <a:avLst/>
          </a:prstGeom>
        </p:spPr>
      </p:pic>
      <p:sp>
        <p:nvSpPr>
          <p:cNvPr id="12" name="Text 7"/>
          <p:cNvSpPr/>
          <p:nvPr/>
        </p:nvSpPr>
        <p:spPr>
          <a:xfrm>
            <a:off x="1188720" y="3447288"/>
            <a:ext cx="4617720" cy="777240"/>
          </a:xfrm>
          <a:prstGeom prst="rect">
            <a:avLst/>
          </a:prstGeom>
          <a:noFill/>
          <a:ln/>
        </p:spPr>
        <p:txBody>
          <a:bodyPr wrap="square" rtlCol="0" anchor="t"/>
          <a:lstStyle/>
          <a:p>
            <a:pPr marL="0" indent="0">
              <a:lnSpc>
                <a:spcPct val="115000"/>
              </a:lnSpc>
              <a:buNone/>
            </a:pPr>
            <a:r>
              <a:rPr lang="en-US" sz="1150" b="1" dirty="0">
                <a:solidFill>
                  <a:srgbClr val="142433"/>
                </a:solidFill>
                <a:latin typeface="Calibri" pitchFamily="34" charset="0"/>
                <a:ea typeface="Calibri" pitchFamily="34" charset="-122"/>
                <a:cs typeface="Calibri" pitchFamily="34" charset="-120"/>
              </a:rPr>
              <a:t>Organizations: </a:t>
            </a:r>
            <a:r>
              <a:rPr lang="en-US" sz="1150" dirty="0">
                <a:solidFill>
                  <a:srgbClr val="5C6B7A"/>
                </a:solidFill>
                <a:latin typeface="Calibri" pitchFamily="34" charset="0"/>
                <a:ea typeface="Calibri" pitchFamily="34" charset="-122"/>
                <a:cs typeface="Calibri" pitchFamily="34" charset="-120"/>
              </a:rPr>
              <a:t>Massive data breaches, regulatory fines under GDPR/CCPA, legal liability, and lasting reputational damage.</a:t>
            </a:r>
            <a:endParaRPr lang="en-US" sz="1150" dirty="0"/>
          </a:p>
        </p:txBody>
      </p:sp>
      <p:sp>
        <p:nvSpPr>
          <p:cNvPr id="13" name="Shape 8"/>
          <p:cNvSpPr/>
          <p:nvPr/>
        </p:nvSpPr>
        <p:spPr>
          <a:xfrm>
            <a:off x="6172200" y="2331720"/>
            <a:ext cx="5440680" cy="2011680"/>
          </a:xfrm>
          <a:prstGeom prst="roundRect">
            <a:avLst>
              <a:gd name="adj" fmla="val 4545"/>
            </a:avLst>
          </a:prstGeom>
          <a:solidFill>
            <a:srgbClr val="0B1F3A"/>
          </a:solidFill>
          <a:ln/>
        </p:spPr>
      </p:sp>
      <p:sp>
        <p:nvSpPr>
          <p:cNvPr id="14" name="Text 9"/>
          <p:cNvSpPr/>
          <p:nvPr/>
        </p:nvSpPr>
        <p:spPr>
          <a:xfrm>
            <a:off x="6400800" y="2468880"/>
            <a:ext cx="5029200" cy="274320"/>
          </a:xfrm>
          <a:prstGeom prst="rect">
            <a:avLst/>
          </a:prstGeom>
          <a:noFill/>
          <a:ln/>
        </p:spPr>
        <p:txBody>
          <a:bodyPr wrap="square" rtlCol="0" anchor="ctr"/>
          <a:lstStyle/>
          <a:p>
            <a:pPr marL="0" indent="0">
              <a:buNone/>
            </a:pPr>
            <a:r>
              <a:rPr lang="en-US" sz="1100" b="1" kern="0" spc="200" dirty="0">
                <a:solidFill>
                  <a:srgbClr val="00B4D8"/>
                </a:solidFill>
                <a:latin typeface="Calibri" pitchFamily="34" charset="0"/>
                <a:ea typeface="Calibri" pitchFamily="34" charset="-122"/>
                <a:cs typeface="Calibri" pitchFamily="34" charset="-120"/>
              </a:rPr>
              <a:t>REAL-WORLD CASE STUDY</a:t>
            </a:r>
            <a:endParaRPr lang="en-US" sz="1100" dirty="0"/>
          </a:p>
        </p:txBody>
      </p:sp>
      <p:sp>
        <p:nvSpPr>
          <p:cNvPr id="15" name="Text 10"/>
          <p:cNvSpPr/>
          <p:nvPr/>
        </p:nvSpPr>
        <p:spPr>
          <a:xfrm>
            <a:off x="6400800" y="2743200"/>
            <a:ext cx="50292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Capital One Breach (2019)</a:t>
            </a:r>
            <a:endParaRPr lang="en-US" sz="1400" dirty="0"/>
          </a:p>
        </p:txBody>
      </p:sp>
      <p:sp>
        <p:nvSpPr>
          <p:cNvPr id="16" name="Text 11"/>
          <p:cNvSpPr/>
          <p:nvPr/>
        </p:nvSpPr>
        <p:spPr>
          <a:xfrm>
            <a:off x="6400800" y="3108960"/>
            <a:ext cx="5029200" cy="1143000"/>
          </a:xfrm>
          <a:prstGeom prst="rect">
            <a:avLst/>
          </a:prstGeom>
          <a:noFill/>
          <a:ln/>
        </p:spPr>
        <p:txBody>
          <a:bodyPr wrap="square" rtlCol="0" anchor="ctr"/>
          <a:lstStyle/>
          <a:p>
            <a:pPr marL="0" indent="0">
              <a:lnSpc>
                <a:spcPct val="120000"/>
              </a:lnSpc>
              <a:buNone/>
            </a:pPr>
            <a:r>
              <a:rPr lang="en-US" sz="1150" dirty="0">
                <a:solidFill>
                  <a:srgbClr val="D6E2ED"/>
                </a:solidFill>
                <a:latin typeface="Calibri" pitchFamily="34" charset="0"/>
                <a:ea typeface="Calibri" pitchFamily="34" charset="-122"/>
                <a:cs typeface="Calibri" pitchFamily="34" charset="-120"/>
              </a:rPr>
              <a:t>A misconfigured web application firewall on AWS was exploited via a server-side request forgery (SSRF) flaw, exposing over 100 million customer records including credit applications and SSNs.</a:t>
            </a:r>
            <a:endParaRPr lang="en-US" sz="1150" dirty="0"/>
          </a:p>
        </p:txBody>
      </p:sp>
      <p:sp>
        <p:nvSpPr>
          <p:cNvPr id="17" name="Text 12"/>
          <p:cNvSpPr/>
          <p:nvPr/>
        </p:nvSpPr>
        <p:spPr>
          <a:xfrm>
            <a:off x="548640" y="4572000"/>
            <a:ext cx="5486400" cy="274320"/>
          </a:xfrm>
          <a:prstGeom prst="rect">
            <a:avLst/>
          </a:prstGeom>
          <a:noFill/>
          <a:ln/>
        </p:spPr>
        <p:txBody>
          <a:bodyPr wrap="square" rtlCol="0" anchor="ctr"/>
          <a:lstStyle/>
          <a:p>
            <a:pPr marL="0" indent="0">
              <a:buNone/>
            </a:pPr>
            <a:r>
              <a:rPr lang="en-US" sz="1100" b="1" kern="0" spc="200" dirty="0">
                <a:solidFill>
                  <a:srgbClr val="0B1F3A"/>
                </a:solidFill>
                <a:latin typeface="Calibri" pitchFamily="34" charset="0"/>
                <a:ea typeface="Calibri" pitchFamily="34" charset="-122"/>
                <a:cs typeface="Calibri" pitchFamily="34" charset="-120"/>
              </a:rPr>
              <a:t>PREVENTIVE MEASURES</a:t>
            </a:r>
            <a:endParaRPr lang="en-US" sz="1100" dirty="0"/>
          </a:p>
        </p:txBody>
      </p:sp>
      <p:sp>
        <p:nvSpPr>
          <p:cNvPr id="18" name="Shape 13"/>
          <p:cNvSpPr/>
          <p:nvPr/>
        </p:nvSpPr>
        <p:spPr>
          <a:xfrm>
            <a:off x="548640" y="4937760"/>
            <a:ext cx="3505200" cy="1417320"/>
          </a:xfrm>
          <a:prstGeom prst="roundRect">
            <a:avLst>
              <a:gd name="adj" fmla="val 5161"/>
            </a:avLst>
          </a:prstGeom>
          <a:solidFill>
            <a:srgbClr val="F1F5F8"/>
          </a:solidFill>
          <a:ln w="12700">
            <a:solidFill>
              <a:srgbClr val="DCE4EA"/>
            </a:solidFill>
            <a:prstDash val="solid"/>
          </a:ln>
        </p:spPr>
      </p:sp>
      <p:pic>
        <p:nvPicPr>
          <p:cNvPr id="19" name="Image 3" descr="check.png"/>
          <p:cNvPicPr>
            <a:picLocks noChangeAspect="1"/>
          </p:cNvPicPr>
          <p:nvPr/>
        </p:nvPicPr>
        <p:blipFill>
          <a:blip r:embed="rId6"/>
          <a:stretch>
            <a:fillRect/>
          </a:stretch>
        </p:blipFill>
        <p:spPr>
          <a:xfrm>
            <a:off x="713232" y="5102352"/>
            <a:ext cx="256032" cy="256032"/>
          </a:xfrm>
          <a:prstGeom prst="rect">
            <a:avLst/>
          </a:prstGeom>
        </p:spPr>
      </p:pic>
      <p:sp>
        <p:nvSpPr>
          <p:cNvPr id="20" name="Text 14"/>
          <p:cNvSpPr/>
          <p:nvPr/>
        </p:nvSpPr>
        <p:spPr>
          <a:xfrm>
            <a:off x="713232" y="5394960"/>
            <a:ext cx="3176016" cy="868680"/>
          </a:xfrm>
          <a:prstGeom prst="rect">
            <a:avLst/>
          </a:prstGeom>
          <a:noFill/>
          <a:ln/>
        </p:spPr>
        <p:txBody>
          <a:bodyPr wrap="square" rtlCol="0" anchor="ctr"/>
          <a:lstStyle/>
          <a:p>
            <a:pPr marL="0" indent="0">
              <a:lnSpc>
                <a:spcPct val="115000"/>
              </a:lnSpc>
              <a:buNone/>
            </a:pPr>
            <a:r>
              <a:rPr lang="en-US" sz="1100" dirty="0">
                <a:solidFill>
                  <a:srgbClr val="142433"/>
                </a:solidFill>
                <a:latin typeface="Calibri" pitchFamily="34" charset="0"/>
                <a:ea typeface="Calibri" pitchFamily="34" charset="-122"/>
                <a:cs typeface="Calibri" pitchFamily="34" charset="-120"/>
              </a:rPr>
              <a:t>Use Cloud Security Posture Management (CSPM) tools for continuous configuration audits</a:t>
            </a:r>
            <a:endParaRPr lang="en-US" sz="1100" dirty="0"/>
          </a:p>
        </p:txBody>
      </p:sp>
      <p:sp>
        <p:nvSpPr>
          <p:cNvPr id="21" name="Shape 15"/>
          <p:cNvSpPr/>
          <p:nvPr/>
        </p:nvSpPr>
        <p:spPr>
          <a:xfrm>
            <a:off x="4328160" y="4937760"/>
            <a:ext cx="3505200" cy="1417320"/>
          </a:xfrm>
          <a:prstGeom prst="roundRect">
            <a:avLst>
              <a:gd name="adj" fmla="val 5161"/>
            </a:avLst>
          </a:prstGeom>
          <a:solidFill>
            <a:srgbClr val="F1F5F8"/>
          </a:solidFill>
          <a:ln w="12700">
            <a:solidFill>
              <a:srgbClr val="DCE4EA"/>
            </a:solidFill>
            <a:prstDash val="solid"/>
          </a:ln>
        </p:spPr>
      </p:sp>
      <p:pic>
        <p:nvPicPr>
          <p:cNvPr id="22" name="Image 4" descr="check.png"/>
          <p:cNvPicPr>
            <a:picLocks noChangeAspect="1"/>
          </p:cNvPicPr>
          <p:nvPr/>
        </p:nvPicPr>
        <p:blipFill>
          <a:blip r:embed="rId6"/>
          <a:stretch>
            <a:fillRect/>
          </a:stretch>
        </p:blipFill>
        <p:spPr>
          <a:xfrm>
            <a:off x="4492752" y="5102352"/>
            <a:ext cx="256032" cy="256032"/>
          </a:xfrm>
          <a:prstGeom prst="rect">
            <a:avLst/>
          </a:prstGeom>
        </p:spPr>
      </p:pic>
      <p:sp>
        <p:nvSpPr>
          <p:cNvPr id="23" name="Text 16"/>
          <p:cNvSpPr/>
          <p:nvPr/>
        </p:nvSpPr>
        <p:spPr>
          <a:xfrm>
            <a:off x="4492752" y="5394960"/>
            <a:ext cx="3176016" cy="868680"/>
          </a:xfrm>
          <a:prstGeom prst="rect">
            <a:avLst/>
          </a:prstGeom>
          <a:noFill/>
          <a:ln/>
        </p:spPr>
        <p:txBody>
          <a:bodyPr wrap="square" rtlCol="0" anchor="ctr"/>
          <a:lstStyle/>
          <a:p>
            <a:pPr marL="0" indent="0">
              <a:lnSpc>
                <a:spcPct val="115000"/>
              </a:lnSpc>
              <a:buNone/>
            </a:pPr>
            <a:r>
              <a:rPr lang="en-US" sz="1100" dirty="0">
                <a:solidFill>
                  <a:srgbClr val="142433"/>
                </a:solidFill>
                <a:latin typeface="Calibri" pitchFamily="34" charset="0"/>
                <a:ea typeface="Calibri" pitchFamily="34" charset="-122"/>
                <a:cs typeface="Calibri" pitchFamily="34" charset="-120"/>
              </a:rPr>
              <a:t>Enforce least-privilege IAM policies and disable public access by default</a:t>
            </a:r>
            <a:endParaRPr lang="en-US" sz="1100" dirty="0"/>
          </a:p>
        </p:txBody>
      </p:sp>
      <p:sp>
        <p:nvSpPr>
          <p:cNvPr id="24" name="Shape 17"/>
          <p:cNvSpPr/>
          <p:nvPr/>
        </p:nvSpPr>
        <p:spPr>
          <a:xfrm>
            <a:off x="8107680" y="4937760"/>
            <a:ext cx="3505200" cy="1417320"/>
          </a:xfrm>
          <a:prstGeom prst="roundRect">
            <a:avLst>
              <a:gd name="adj" fmla="val 5161"/>
            </a:avLst>
          </a:prstGeom>
          <a:solidFill>
            <a:srgbClr val="F1F5F8"/>
          </a:solidFill>
          <a:ln w="12700">
            <a:solidFill>
              <a:srgbClr val="DCE4EA"/>
            </a:solidFill>
            <a:prstDash val="solid"/>
          </a:ln>
        </p:spPr>
      </p:sp>
      <p:pic>
        <p:nvPicPr>
          <p:cNvPr id="25" name="Image 5" descr="check.png"/>
          <p:cNvPicPr>
            <a:picLocks noChangeAspect="1"/>
          </p:cNvPicPr>
          <p:nvPr/>
        </p:nvPicPr>
        <p:blipFill>
          <a:blip r:embed="rId6"/>
          <a:stretch>
            <a:fillRect/>
          </a:stretch>
        </p:blipFill>
        <p:spPr>
          <a:xfrm>
            <a:off x="8272272" y="5102352"/>
            <a:ext cx="256032" cy="256032"/>
          </a:xfrm>
          <a:prstGeom prst="rect">
            <a:avLst/>
          </a:prstGeom>
        </p:spPr>
      </p:pic>
      <p:sp>
        <p:nvSpPr>
          <p:cNvPr id="26" name="Text 18"/>
          <p:cNvSpPr/>
          <p:nvPr/>
        </p:nvSpPr>
        <p:spPr>
          <a:xfrm>
            <a:off x="8272272" y="5394960"/>
            <a:ext cx="3176016" cy="868680"/>
          </a:xfrm>
          <a:prstGeom prst="rect">
            <a:avLst/>
          </a:prstGeom>
          <a:noFill/>
          <a:ln/>
        </p:spPr>
        <p:txBody>
          <a:bodyPr wrap="square" rtlCol="0" anchor="ctr"/>
          <a:lstStyle/>
          <a:p>
            <a:pPr marL="0" indent="0">
              <a:lnSpc>
                <a:spcPct val="115000"/>
              </a:lnSpc>
              <a:buNone/>
            </a:pPr>
            <a:r>
              <a:rPr lang="en-US" sz="1100" dirty="0">
                <a:solidFill>
                  <a:srgbClr val="142433"/>
                </a:solidFill>
                <a:latin typeface="Calibri" pitchFamily="34" charset="0"/>
                <a:ea typeface="Calibri" pitchFamily="34" charset="-122"/>
                <a:cs typeface="Calibri" pitchFamily="34" charset="-120"/>
              </a:rPr>
              <a:t>Encrypt data at rest and in transit, and monitor for configuration drift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85800" cy="685800"/>
          </a:xfrm>
          <a:prstGeom prst="ellipse">
            <a:avLst/>
          </a:prstGeom>
          <a:solidFill>
            <a:srgbClr val="E63946"/>
          </a:solidFill>
          <a:ln/>
        </p:spPr>
      </p:sp>
      <p:pic>
        <p:nvPicPr>
          <p:cNvPr id="3" name="Image 0" descr="microchip.png"/>
          <p:cNvPicPr>
            <a:picLocks noChangeAspect="1"/>
          </p:cNvPicPr>
          <p:nvPr/>
        </p:nvPicPr>
        <p:blipFill>
          <a:blip r:embed="rId3"/>
          <a:stretch>
            <a:fillRect/>
          </a:stretch>
        </p:blipFill>
        <p:spPr>
          <a:xfrm>
            <a:off x="722376" y="630936"/>
            <a:ext cx="338328" cy="338328"/>
          </a:xfrm>
          <a:prstGeom prst="rect">
            <a:avLst/>
          </a:prstGeom>
        </p:spPr>
      </p:pic>
      <p:sp>
        <p:nvSpPr>
          <p:cNvPr id="4" name="Text 1"/>
          <p:cNvSpPr/>
          <p:nvPr/>
        </p:nvSpPr>
        <p:spPr>
          <a:xfrm>
            <a:off x="1417320" y="457200"/>
            <a:ext cx="4572000" cy="274320"/>
          </a:xfrm>
          <a:prstGeom prst="rect">
            <a:avLst/>
          </a:prstGeom>
          <a:noFill/>
          <a:ln/>
        </p:spPr>
        <p:txBody>
          <a:bodyPr wrap="square" rtlCol="0" anchor="ctr"/>
          <a:lstStyle/>
          <a:p>
            <a:pPr marL="0" indent="0">
              <a:buNone/>
            </a:pPr>
            <a:r>
              <a:rPr lang="en-US" sz="1100" b="1" kern="0" spc="200" dirty="0">
                <a:solidFill>
                  <a:srgbClr val="E63946"/>
                </a:solidFill>
                <a:latin typeface="Calibri" pitchFamily="34" charset="0"/>
                <a:ea typeface="Calibri" pitchFamily="34" charset="-122"/>
                <a:cs typeface="Calibri" pitchFamily="34" charset="-120"/>
              </a:rPr>
              <a:t>THREAT 4 / 5</a:t>
            </a:r>
            <a:endParaRPr lang="en-US" sz="1100" dirty="0"/>
          </a:p>
        </p:txBody>
      </p:sp>
      <p:sp>
        <p:nvSpPr>
          <p:cNvPr id="5" name="Text 2"/>
          <p:cNvSpPr/>
          <p:nvPr/>
        </p:nvSpPr>
        <p:spPr>
          <a:xfrm>
            <a:off x="1417320" y="713232"/>
            <a:ext cx="9601200" cy="502920"/>
          </a:xfrm>
          <a:prstGeom prst="rect">
            <a:avLst/>
          </a:prstGeom>
          <a:noFill/>
          <a:ln/>
        </p:spPr>
        <p:txBody>
          <a:bodyPr wrap="square" rtlCol="0" anchor="ctr"/>
          <a:lstStyle/>
          <a:p>
            <a:pPr marL="0" indent="0">
              <a:buNone/>
            </a:pPr>
            <a:r>
              <a:rPr lang="en-US" sz="2400" b="1" dirty="0">
                <a:solidFill>
                  <a:srgbClr val="142433"/>
                </a:solidFill>
                <a:latin typeface="Cambria" pitchFamily="34" charset="0"/>
                <a:ea typeface="Cambria" pitchFamily="34" charset="-122"/>
                <a:cs typeface="Cambria" pitchFamily="34" charset="-120"/>
              </a:rPr>
              <a:t>IoT Vulnerabilities</a:t>
            </a:r>
            <a:endParaRPr lang="en-US" sz="2400" dirty="0"/>
          </a:p>
        </p:txBody>
      </p:sp>
      <p:sp>
        <p:nvSpPr>
          <p:cNvPr id="6" name="Text 3"/>
          <p:cNvSpPr/>
          <p:nvPr/>
        </p:nvSpPr>
        <p:spPr>
          <a:xfrm>
            <a:off x="548640" y="1417320"/>
            <a:ext cx="11064240" cy="777240"/>
          </a:xfrm>
          <a:prstGeom prst="rect">
            <a:avLst/>
          </a:prstGeom>
          <a:noFill/>
          <a:ln/>
        </p:spPr>
        <p:txBody>
          <a:bodyPr wrap="square" rtlCol="0" anchor="ctr"/>
          <a:lstStyle/>
          <a:p>
            <a:pPr marL="0" indent="0">
              <a:lnSpc>
                <a:spcPct val="120000"/>
              </a:lnSpc>
              <a:buNone/>
            </a:pPr>
            <a:r>
              <a:rPr lang="en-US" sz="1300" dirty="0">
                <a:solidFill>
                  <a:srgbClr val="5C6B7A"/>
                </a:solidFill>
                <a:latin typeface="Calibri" pitchFamily="34" charset="0"/>
                <a:ea typeface="Calibri" pitchFamily="34" charset="-122"/>
                <a:cs typeface="Calibri" pitchFamily="34" charset="-120"/>
              </a:rPr>
              <a:t>Smart cameras, routers, and connected devices often ship with weak default passwords and rarely-updated firmware, making them an easy foothold for attackers to hijack or recruit into large botnets.</a:t>
            </a:r>
            <a:endParaRPr lang="en-US" sz="1300" dirty="0"/>
          </a:p>
        </p:txBody>
      </p:sp>
      <p:sp>
        <p:nvSpPr>
          <p:cNvPr id="7" name="Shape 4"/>
          <p:cNvSpPr/>
          <p:nvPr/>
        </p:nvSpPr>
        <p:spPr>
          <a:xfrm>
            <a:off x="548640" y="2331720"/>
            <a:ext cx="5394960" cy="2011680"/>
          </a:xfrm>
          <a:prstGeom prst="roundRect">
            <a:avLst>
              <a:gd name="adj" fmla="val 4545"/>
            </a:avLst>
          </a:prstGeom>
          <a:solidFill>
            <a:srgbClr val="F1F5F8"/>
          </a:solidFill>
          <a:ln/>
        </p:spPr>
      </p:sp>
      <p:sp>
        <p:nvSpPr>
          <p:cNvPr id="8" name="Text 5"/>
          <p:cNvSpPr/>
          <p:nvPr/>
        </p:nvSpPr>
        <p:spPr>
          <a:xfrm>
            <a:off x="777240" y="2468880"/>
            <a:ext cx="4572000" cy="274320"/>
          </a:xfrm>
          <a:prstGeom prst="rect">
            <a:avLst/>
          </a:prstGeom>
          <a:noFill/>
          <a:ln/>
        </p:spPr>
        <p:txBody>
          <a:bodyPr wrap="square" rtlCol="0" anchor="ctr"/>
          <a:lstStyle/>
          <a:p>
            <a:pPr marL="0" indent="0">
              <a:buNone/>
            </a:pPr>
            <a:r>
              <a:rPr lang="en-US" sz="1100" b="1" kern="0" spc="200" dirty="0">
                <a:solidFill>
                  <a:srgbClr val="0B1F3A"/>
                </a:solidFill>
                <a:latin typeface="Calibri" pitchFamily="34" charset="0"/>
                <a:ea typeface="Calibri" pitchFamily="34" charset="-122"/>
                <a:cs typeface="Calibri" pitchFamily="34" charset="-120"/>
              </a:rPr>
              <a:t>IMPACT</a:t>
            </a:r>
            <a:endParaRPr lang="en-US" sz="1100" dirty="0"/>
          </a:p>
        </p:txBody>
      </p:sp>
      <p:pic>
        <p:nvPicPr>
          <p:cNvPr id="9" name="Image 1" descr="user.png"/>
          <p:cNvPicPr>
            <a:picLocks noChangeAspect="1"/>
          </p:cNvPicPr>
          <p:nvPr/>
        </p:nvPicPr>
        <p:blipFill>
          <a:blip r:embed="rId4"/>
          <a:stretch>
            <a:fillRect/>
          </a:stretch>
        </p:blipFill>
        <p:spPr>
          <a:xfrm>
            <a:off x="777240" y="2834640"/>
            <a:ext cx="274320" cy="274320"/>
          </a:xfrm>
          <a:prstGeom prst="rect">
            <a:avLst/>
          </a:prstGeom>
        </p:spPr>
      </p:pic>
      <p:sp>
        <p:nvSpPr>
          <p:cNvPr id="10" name="Text 6"/>
          <p:cNvSpPr/>
          <p:nvPr/>
        </p:nvSpPr>
        <p:spPr>
          <a:xfrm>
            <a:off x="1188720" y="2761488"/>
            <a:ext cx="4617720" cy="640080"/>
          </a:xfrm>
          <a:prstGeom prst="rect">
            <a:avLst/>
          </a:prstGeom>
          <a:noFill/>
          <a:ln/>
        </p:spPr>
        <p:txBody>
          <a:bodyPr wrap="square" rtlCol="0" anchor="t"/>
          <a:lstStyle/>
          <a:p>
            <a:pPr marL="0" indent="0">
              <a:lnSpc>
                <a:spcPct val="115000"/>
              </a:lnSpc>
              <a:buNone/>
            </a:pPr>
            <a:r>
              <a:rPr lang="en-US" sz="1150" b="1" dirty="0">
                <a:solidFill>
                  <a:srgbClr val="142433"/>
                </a:solidFill>
                <a:latin typeface="Calibri" pitchFamily="34" charset="0"/>
                <a:ea typeface="Calibri" pitchFamily="34" charset="-122"/>
                <a:cs typeface="Calibri" pitchFamily="34" charset="-120"/>
              </a:rPr>
              <a:t>Individuals: </a:t>
            </a:r>
            <a:r>
              <a:rPr lang="en-US" sz="1150" dirty="0">
                <a:solidFill>
                  <a:srgbClr val="5C6B7A"/>
                </a:solidFill>
                <a:latin typeface="Calibri" pitchFamily="34" charset="0"/>
                <a:ea typeface="Calibri" pitchFamily="34" charset="-122"/>
                <a:cs typeface="Calibri" pitchFamily="34" charset="-120"/>
              </a:rPr>
              <a:t>Hijacked home cameras and routers, loss of privacy, and personal devices silently conscripted into attacks.</a:t>
            </a:r>
            <a:endParaRPr lang="en-US" sz="1150" dirty="0"/>
          </a:p>
        </p:txBody>
      </p:sp>
      <p:pic>
        <p:nvPicPr>
          <p:cNvPr id="11" name="Image 2" descr="building.png"/>
          <p:cNvPicPr>
            <a:picLocks noChangeAspect="1"/>
          </p:cNvPicPr>
          <p:nvPr/>
        </p:nvPicPr>
        <p:blipFill>
          <a:blip r:embed="rId5"/>
          <a:stretch>
            <a:fillRect/>
          </a:stretch>
        </p:blipFill>
        <p:spPr>
          <a:xfrm>
            <a:off x="777240" y="3520440"/>
            <a:ext cx="274320" cy="274320"/>
          </a:xfrm>
          <a:prstGeom prst="rect">
            <a:avLst/>
          </a:prstGeom>
        </p:spPr>
      </p:pic>
      <p:sp>
        <p:nvSpPr>
          <p:cNvPr id="12" name="Text 7"/>
          <p:cNvSpPr/>
          <p:nvPr/>
        </p:nvSpPr>
        <p:spPr>
          <a:xfrm>
            <a:off x="1188720" y="3447288"/>
            <a:ext cx="4617720" cy="777240"/>
          </a:xfrm>
          <a:prstGeom prst="rect">
            <a:avLst/>
          </a:prstGeom>
          <a:noFill/>
          <a:ln/>
        </p:spPr>
        <p:txBody>
          <a:bodyPr wrap="square" rtlCol="0" anchor="t"/>
          <a:lstStyle/>
          <a:p>
            <a:pPr marL="0" indent="0">
              <a:lnSpc>
                <a:spcPct val="115000"/>
              </a:lnSpc>
              <a:buNone/>
            </a:pPr>
            <a:r>
              <a:rPr lang="en-US" sz="1150" b="1" dirty="0">
                <a:solidFill>
                  <a:srgbClr val="142433"/>
                </a:solidFill>
                <a:latin typeface="Calibri" pitchFamily="34" charset="0"/>
                <a:ea typeface="Calibri" pitchFamily="34" charset="-122"/>
                <a:cs typeface="Calibri" pitchFamily="34" charset="-120"/>
              </a:rPr>
              <a:t>Organizations: </a:t>
            </a:r>
            <a:r>
              <a:rPr lang="en-US" sz="1150" dirty="0">
                <a:solidFill>
                  <a:srgbClr val="5C6B7A"/>
                </a:solidFill>
                <a:latin typeface="Calibri" pitchFamily="34" charset="0"/>
                <a:ea typeface="Calibri" pitchFamily="34" charset="-122"/>
                <a:cs typeface="Calibri" pitchFamily="34" charset="-120"/>
              </a:rPr>
              <a:t>Compromised IoT fleets used to launch DDoS attacks, plus a stealthy entry point into wider corporate networks.</a:t>
            </a:r>
            <a:endParaRPr lang="en-US" sz="1150" dirty="0"/>
          </a:p>
        </p:txBody>
      </p:sp>
      <p:sp>
        <p:nvSpPr>
          <p:cNvPr id="13" name="Shape 8"/>
          <p:cNvSpPr/>
          <p:nvPr/>
        </p:nvSpPr>
        <p:spPr>
          <a:xfrm>
            <a:off x="6172200" y="2331720"/>
            <a:ext cx="5440680" cy="2011680"/>
          </a:xfrm>
          <a:prstGeom prst="roundRect">
            <a:avLst>
              <a:gd name="adj" fmla="val 4545"/>
            </a:avLst>
          </a:prstGeom>
          <a:solidFill>
            <a:srgbClr val="0B1F3A"/>
          </a:solidFill>
          <a:ln/>
        </p:spPr>
      </p:sp>
      <p:sp>
        <p:nvSpPr>
          <p:cNvPr id="14" name="Text 9"/>
          <p:cNvSpPr/>
          <p:nvPr/>
        </p:nvSpPr>
        <p:spPr>
          <a:xfrm>
            <a:off x="6400800" y="2468880"/>
            <a:ext cx="5029200" cy="274320"/>
          </a:xfrm>
          <a:prstGeom prst="rect">
            <a:avLst/>
          </a:prstGeom>
          <a:noFill/>
          <a:ln/>
        </p:spPr>
        <p:txBody>
          <a:bodyPr wrap="square" rtlCol="0" anchor="ctr"/>
          <a:lstStyle/>
          <a:p>
            <a:pPr marL="0" indent="0">
              <a:buNone/>
            </a:pPr>
            <a:r>
              <a:rPr lang="en-US" sz="1100" b="1" kern="0" spc="200" dirty="0">
                <a:solidFill>
                  <a:srgbClr val="00B4D8"/>
                </a:solidFill>
                <a:latin typeface="Calibri" pitchFamily="34" charset="0"/>
                <a:ea typeface="Calibri" pitchFamily="34" charset="-122"/>
                <a:cs typeface="Calibri" pitchFamily="34" charset="-120"/>
              </a:rPr>
              <a:t>REAL-WORLD CASE STUDY</a:t>
            </a:r>
            <a:endParaRPr lang="en-US" sz="1100" dirty="0"/>
          </a:p>
        </p:txBody>
      </p:sp>
      <p:sp>
        <p:nvSpPr>
          <p:cNvPr id="15" name="Text 10"/>
          <p:cNvSpPr/>
          <p:nvPr/>
        </p:nvSpPr>
        <p:spPr>
          <a:xfrm>
            <a:off x="6400800" y="2743200"/>
            <a:ext cx="50292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Mirai Botnet (2016)</a:t>
            </a:r>
            <a:endParaRPr lang="en-US" sz="1400" dirty="0"/>
          </a:p>
        </p:txBody>
      </p:sp>
      <p:sp>
        <p:nvSpPr>
          <p:cNvPr id="16" name="Text 11"/>
          <p:cNvSpPr/>
          <p:nvPr/>
        </p:nvSpPr>
        <p:spPr>
          <a:xfrm>
            <a:off x="6400800" y="3108960"/>
            <a:ext cx="5029200" cy="1143000"/>
          </a:xfrm>
          <a:prstGeom prst="rect">
            <a:avLst/>
          </a:prstGeom>
          <a:noFill/>
          <a:ln/>
        </p:spPr>
        <p:txBody>
          <a:bodyPr wrap="square" rtlCol="0" anchor="ctr"/>
          <a:lstStyle/>
          <a:p>
            <a:pPr marL="0" indent="0">
              <a:lnSpc>
                <a:spcPct val="120000"/>
              </a:lnSpc>
              <a:buNone/>
            </a:pPr>
            <a:r>
              <a:rPr lang="en-US" sz="1150" dirty="0">
                <a:solidFill>
                  <a:srgbClr val="D6E2ED"/>
                </a:solidFill>
                <a:latin typeface="Calibri" pitchFamily="34" charset="0"/>
                <a:ea typeface="Calibri" pitchFamily="34" charset="-122"/>
                <a:cs typeface="Calibri" pitchFamily="34" charset="-120"/>
              </a:rPr>
              <a:t>Malware scanned for insecure IoT devices using default credentials, infecting hundreds of thousands of cameras and routers. The resulting botnet knocked DNS provider Dyn offline, taking down Twitter, Netflix, and Reddit for hours.</a:t>
            </a:r>
            <a:endParaRPr lang="en-US" sz="1150" dirty="0"/>
          </a:p>
        </p:txBody>
      </p:sp>
      <p:sp>
        <p:nvSpPr>
          <p:cNvPr id="17" name="Text 12"/>
          <p:cNvSpPr/>
          <p:nvPr/>
        </p:nvSpPr>
        <p:spPr>
          <a:xfrm>
            <a:off x="548640" y="4572000"/>
            <a:ext cx="5486400" cy="274320"/>
          </a:xfrm>
          <a:prstGeom prst="rect">
            <a:avLst/>
          </a:prstGeom>
          <a:noFill/>
          <a:ln/>
        </p:spPr>
        <p:txBody>
          <a:bodyPr wrap="square" rtlCol="0" anchor="ctr"/>
          <a:lstStyle/>
          <a:p>
            <a:pPr marL="0" indent="0">
              <a:buNone/>
            </a:pPr>
            <a:r>
              <a:rPr lang="en-US" sz="1100" b="1" kern="0" spc="200" dirty="0">
                <a:solidFill>
                  <a:srgbClr val="0B1F3A"/>
                </a:solidFill>
                <a:latin typeface="Calibri" pitchFamily="34" charset="0"/>
                <a:ea typeface="Calibri" pitchFamily="34" charset="-122"/>
                <a:cs typeface="Calibri" pitchFamily="34" charset="-120"/>
              </a:rPr>
              <a:t>PREVENTIVE MEASURES</a:t>
            </a:r>
            <a:endParaRPr lang="en-US" sz="1100" dirty="0"/>
          </a:p>
        </p:txBody>
      </p:sp>
      <p:sp>
        <p:nvSpPr>
          <p:cNvPr id="18" name="Shape 13"/>
          <p:cNvSpPr/>
          <p:nvPr/>
        </p:nvSpPr>
        <p:spPr>
          <a:xfrm>
            <a:off x="548640" y="4937760"/>
            <a:ext cx="3505200" cy="1417320"/>
          </a:xfrm>
          <a:prstGeom prst="roundRect">
            <a:avLst>
              <a:gd name="adj" fmla="val 5161"/>
            </a:avLst>
          </a:prstGeom>
          <a:solidFill>
            <a:srgbClr val="F1F5F8"/>
          </a:solidFill>
          <a:ln w="12700">
            <a:solidFill>
              <a:srgbClr val="DCE4EA"/>
            </a:solidFill>
            <a:prstDash val="solid"/>
          </a:ln>
        </p:spPr>
      </p:sp>
      <p:pic>
        <p:nvPicPr>
          <p:cNvPr id="19" name="Image 3" descr="check.png"/>
          <p:cNvPicPr>
            <a:picLocks noChangeAspect="1"/>
          </p:cNvPicPr>
          <p:nvPr/>
        </p:nvPicPr>
        <p:blipFill>
          <a:blip r:embed="rId6"/>
          <a:stretch>
            <a:fillRect/>
          </a:stretch>
        </p:blipFill>
        <p:spPr>
          <a:xfrm>
            <a:off x="713232" y="5102352"/>
            <a:ext cx="256032" cy="256032"/>
          </a:xfrm>
          <a:prstGeom prst="rect">
            <a:avLst/>
          </a:prstGeom>
        </p:spPr>
      </p:pic>
      <p:sp>
        <p:nvSpPr>
          <p:cNvPr id="20" name="Text 14"/>
          <p:cNvSpPr/>
          <p:nvPr/>
        </p:nvSpPr>
        <p:spPr>
          <a:xfrm>
            <a:off x="713232" y="5394960"/>
            <a:ext cx="3176016" cy="868680"/>
          </a:xfrm>
          <a:prstGeom prst="rect">
            <a:avLst/>
          </a:prstGeom>
          <a:noFill/>
          <a:ln/>
        </p:spPr>
        <p:txBody>
          <a:bodyPr wrap="square" rtlCol="0" anchor="ctr"/>
          <a:lstStyle/>
          <a:p>
            <a:pPr marL="0" indent="0">
              <a:lnSpc>
                <a:spcPct val="115000"/>
              </a:lnSpc>
              <a:buNone/>
            </a:pPr>
            <a:r>
              <a:rPr lang="en-US" sz="1100" dirty="0">
                <a:solidFill>
                  <a:srgbClr val="142433"/>
                </a:solidFill>
                <a:latin typeface="Calibri" pitchFamily="34" charset="0"/>
                <a:ea typeface="Calibri" pitchFamily="34" charset="-122"/>
                <a:cs typeface="Calibri" pitchFamily="34" charset="-120"/>
              </a:rPr>
              <a:t>Change default credentials and use strong, unique passwords per device</a:t>
            </a:r>
            <a:endParaRPr lang="en-US" sz="1100" dirty="0"/>
          </a:p>
        </p:txBody>
      </p:sp>
      <p:sp>
        <p:nvSpPr>
          <p:cNvPr id="21" name="Shape 15"/>
          <p:cNvSpPr/>
          <p:nvPr/>
        </p:nvSpPr>
        <p:spPr>
          <a:xfrm>
            <a:off x="4328160" y="4937760"/>
            <a:ext cx="3505200" cy="1417320"/>
          </a:xfrm>
          <a:prstGeom prst="roundRect">
            <a:avLst>
              <a:gd name="adj" fmla="val 5161"/>
            </a:avLst>
          </a:prstGeom>
          <a:solidFill>
            <a:srgbClr val="F1F5F8"/>
          </a:solidFill>
          <a:ln w="12700">
            <a:solidFill>
              <a:srgbClr val="DCE4EA"/>
            </a:solidFill>
            <a:prstDash val="solid"/>
          </a:ln>
        </p:spPr>
      </p:sp>
      <p:pic>
        <p:nvPicPr>
          <p:cNvPr id="22" name="Image 4" descr="check.png"/>
          <p:cNvPicPr>
            <a:picLocks noChangeAspect="1"/>
          </p:cNvPicPr>
          <p:nvPr/>
        </p:nvPicPr>
        <p:blipFill>
          <a:blip r:embed="rId6"/>
          <a:stretch>
            <a:fillRect/>
          </a:stretch>
        </p:blipFill>
        <p:spPr>
          <a:xfrm>
            <a:off x="4492752" y="5102352"/>
            <a:ext cx="256032" cy="256032"/>
          </a:xfrm>
          <a:prstGeom prst="rect">
            <a:avLst/>
          </a:prstGeom>
        </p:spPr>
      </p:pic>
      <p:sp>
        <p:nvSpPr>
          <p:cNvPr id="23" name="Text 16"/>
          <p:cNvSpPr/>
          <p:nvPr/>
        </p:nvSpPr>
        <p:spPr>
          <a:xfrm>
            <a:off x="4492752" y="5394960"/>
            <a:ext cx="3176016" cy="868680"/>
          </a:xfrm>
          <a:prstGeom prst="rect">
            <a:avLst/>
          </a:prstGeom>
          <a:noFill/>
          <a:ln/>
        </p:spPr>
        <p:txBody>
          <a:bodyPr wrap="square" rtlCol="0" anchor="ctr"/>
          <a:lstStyle/>
          <a:p>
            <a:pPr marL="0" indent="0">
              <a:lnSpc>
                <a:spcPct val="115000"/>
              </a:lnSpc>
              <a:buNone/>
            </a:pPr>
            <a:r>
              <a:rPr lang="en-US" sz="1100" dirty="0">
                <a:solidFill>
                  <a:srgbClr val="142433"/>
                </a:solidFill>
                <a:latin typeface="Calibri" pitchFamily="34" charset="0"/>
                <a:ea typeface="Calibri" pitchFamily="34" charset="-122"/>
                <a:cs typeface="Calibri" pitchFamily="34" charset="-120"/>
              </a:rPr>
              <a:t>Apply firmware updates promptly and retire unsupported devices</a:t>
            </a:r>
            <a:endParaRPr lang="en-US" sz="1100" dirty="0"/>
          </a:p>
        </p:txBody>
      </p:sp>
      <p:sp>
        <p:nvSpPr>
          <p:cNvPr id="24" name="Shape 17"/>
          <p:cNvSpPr/>
          <p:nvPr/>
        </p:nvSpPr>
        <p:spPr>
          <a:xfrm>
            <a:off x="8107680" y="4937760"/>
            <a:ext cx="3505200" cy="1417320"/>
          </a:xfrm>
          <a:prstGeom prst="roundRect">
            <a:avLst>
              <a:gd name="adj" fmla="val 5161"/>
            </a:avLst>
          </a:prstGeom>
          <a:solidFill>
            <a:srgbClr val="F1F5F8"/>
          </a:solidFill>
          <a:ln w="12700">
            <a:solidFill>
              <a:srgbClr val="DCE4EA"/>
            </a:solidFill>
            <a:prstDash val="solid"/>
          </a:ln>
        </p:spPr>
      </p:sp>
      <p:pic>
        <p:nvPicPr>
          <p:cNvPr id="25" name="Image 5" descr="check.png"/>
          <p:cNvPicPr>
            <a:picLocks noChangeAspect="1"/>
          </p:cNvPicPr>
          <p:nvPr/>
        </p:nvPicPr>
        <p:blipFill>
          <a:blip r:embed="rId6"/>
          <a:stretch>
            <a:fillRect/>
          </a:stretch>
        </p:blipFill>
        <p:spPr>
          <a:xfrm>
            <a:off x="8272272" y="5102352"/>
            <a:ext cx="256032" cy="256032"/>
          </a:xfrm>
          <a:prstGeom prst="rect">
            <a:avLst/>
          </a:prstGeom>
        </p:spPr>
      </p:pic>
      <p:sp>
        <p:nvSpPr>
          <p:cNvPr id="26" name="Text 18"/>
          <p:cNvSpPr/>
          <p:nvPr/>
        </p:nvSpPr>
        <p:spPr>
          <a:xfrm>
            <a:off x="8272272" y="5394960"/>
            <a:ext cx="3176016" cy="868680"/>
          </a:xfrm>
          <a:prstGeom prst="rect">
            <a:avLst/>
          </a:prstGeom>
          <a:noFill/>
          <a:ln/>
        </p:spPr>
        <p:txBody>
          <a:bodyPr wrap="square" rtlCol="0" anchor="ctr"/>
          <a:lstStyle/>
          <a:p>
            <a:pPr marL="0" indent="0">
              <a:lnSpc>
                <a:spcPct val="115000"/>
              </a:lnSpc>
              <a:buNone/>
            </a:pPr>
            <a:r>
              <a:rPr lang="en-US" sz="1100" dirty="0">
                <a:solidFill>
                  <a:srgbClr val="142433"/>
                </a:solidFill>
                <a:latin typeface="Calibri" pitchFamily="34" charset="0"/>
                <a:ea typeface="Calibri" pitchFamily="34" charset="-122"/>
                <a:cs typeface="Calibri" pitchFamily="34" charset="-120"/>
              </a:rPr>
              <a:t>Segment IoT devices onto a separate network from critical systems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85800" cy="685800"/>
          </a:xfrm>
          <a:prstGeom prst="ellipse">
            <a:avLst/>
          </a:prstGeom>
          <a:solidFill>
            <a:srgbClr val="E63946"/>
          </a:solidFill>
          <a:ln/>
        </p:spPr>
      </p:sp>
      <p:pic>
        <p:nvPicPr>
          <p:cNvPr id="3" name="Image 0" descr="bug.png"/>
          <p:cNvPicPr>
            <a:picLocks noChangeAspect="1"/>
          </p:cNvPicPr>
          <p:nvPr/>
        </p:nvPicPr>
        <p:blipFill>
          <a:blip r:embed="rId3"/>
          <a:stretch>
            <a:fillRect/>
          </a:stretch>
        </p:blipFill>
        <p:spPr>
          <a:xfrm>
            <a:off x="722376" y="630936"/>
            <a:ext cx="338328" cy="338328"/>
          </a:xfrm>
          <a:prstGeom prst="rect">
            <a:avLst/>
          </a:prstGeom>
        </p:spPr>
      </p:pic>
      <p:sp>
        <p:nvSpPr>
          <p:cNvPr id="4" name="Text 1"/>
          <p:cNvSpPr/>
          <p:nvPr/>
        </p:nvSpPr>
        <p:spPr>
          <a:xfrm>
            <a:off x="1417320" y="457200"/>
            <a:ext cx="4572000" cy="274320"/>
          </a:xfrm>
          <a:prstGeom prst="rect">
            <a:avLst/>
          </a:prstGeom>
          <a:noFill/>
          <a:ln/>
        </p:spPr>
        <p:txBody>
          <a:bodyPr wrap="square" rtlCol="0" anchor="ctr"/>
          <a:lstStyle/>
          <a:p>
            <a:pPr marL="0" indent="0">
              <a:buNone/>
            </a:pPr>
            <a:r>
              <a:rPr lang="en-US" sz="1100" b="1" kern="0" spc="200" dirty="0">
                <a:solidFill>
                  <a:srgbClr val="E63946"/>
                </a:solidFill>
                <a:latin typeface="Calibri" pitchFamily="34" charset="0"/>
                <a:ea typeface="Calibri" pitchFamily="34" charset="-122"/>
                <a:cs typeface="Calibri" pitchFamily="34" charset="-120"/>
              </a:rPr>
              <a:t>THREAT 5 / 5</a:t>
            </a:r>
            <a:endParaRPr lang="en-US" sz="1100" dirty="0"/>
          </a:p>
        </p:txBody>
      </p:sp>
      <p:sp>
        <p:nvSpPr>
          <p:cNvPr id="5" name="Text 2"/>
          <p:cNvSpPr/>
          <p:nvPr/>
        </p:nvSpPr>
        <p:spPr>
          <a:xfrm>
            <a:off x="1417320" y="713232"/>
            <a:ext cx="9601200" cy="502920"/>
          </a:xfrm>
          <a:prstGeom prst="rect">
            <a:avLst/>
          </a:prstGeom>
          <a:noFill/>
          <a:ln/>
        </p:spPr>
        <p:txBody>
          <a:bodyPr wrap="square" rtlCol="0" anchor="ctr"/>
          <a:lstStyle/>
          <a:p>
            <a:pPr marL="0" indent="0">
              <a:buNone/>
            </a:pPr>
            <a:r>
              <a:rPr lang="en-US" sz="2400" b="1" dirty="0">
                <a:solidFill>
                  <a:srgbClr val="142433"/>
                </a:solidFill>
                <a:latin typeface="Cambria" pitchFamily="34" charset="0"/>
                <a:ea typeface="Cambria" pitchFamily="34" charset="-122"/>
                <a:cs typeface="Cambria" pitchFamily="34" charset="-120"/>
              </a:rPr>
              <a:t>Zero-Day Exploits</a:t>
            </a:r>
            <a:endParaRPr lang="en-US" sz="2400" dirty="0"/>
          </a:p>
        </p:txBody>
      </p:sp>
      <p:sp>
        <p:nvSpPr>
          <p:cNvPr id="6" name="Text 3"/>
          <p:cNvSpPr/>
          <p:nvPr/>
        </p:nvSpPr>
        <p:spPr>
          <a:xfrm>
            <a:off x="548640" y="1417320"/>
            <a:ext cx="11064240" cy="777240"/>
          </a:xfrm>
          <a:prstGeom prst="rect">
            <a:avLst/>
          </a:prstGeom>
          <a:noFill/>
          <a:ln/>
        </p:spPr>
        <p:txBody>
          <a:bodyPr wrap="square" rtlCol="0" anchor="ctr"/>
          <a:lstStyle/>
          <a:p>
            <a:pPr marL="0" indent="0">
              <a:lnSpc>
                <a:spcPct val="120000"/>
              </a:lnSpc>
              <a:buNone/>
            </a:pPr>
            <a:r>
              <a:rPr lang="en-US" sz="1300" dirty="0">
                <a:solidFill>
                  <a:srgbClr val="5C6B7A"/>
                </a:solidFill>
                <a:latin typeface="Calibri" pitchFamily="34" charset="0"/>
                <a:ea typeface="Calibri" pitchFamily="34" charset="-122"/>
                <a:cs typeface="Calibri" pitchFamily="34" charset="-120"/>
              </a:rPr>
              <a:t>These attacks target software vulnerabilities that are unknown to the vendor — there is no patch available and “zero days” of warning, giving attackers a window to strike before defenses can respond.</a:t>
            </a:r>
            <a:endParaRPr lang="en-US" sz="1300" dirty="0"/>
          </a:p>
        </p:txBody>
      </p:sp>
      <p:sp>
        <p:nvSpPr>
          <p:cNvPr id="7" name="Shape 4"/>
          <p:cNvSpPr/>
          <p:nvPr/>
        </p:nvSpPr>
        <p:spPr>
          <a:xfrm>
            <a:off x="548640" y="2331720"/>
            <a:ext cx="5394960" cy="2011680"/>
          </a:xfrm>
          <a:prstGeom prst="roundRect">
            <a:avLst>
              <a:gd name="adj" fmla="val 4545"/>
            </a:avLst>
          </a:prstGeom>
          <a:solidFill>
            <a:srgbClr val="F1F5F8"/>
          </a:solidFill>
          <a:ln/>
        </p:spPr>
      </p:sp>
      <p:sp>
        <p:nvSpPr>
          <p:cNvPr id="8" name="Text 5"/>
          <p:cNvSpPr/>
          <p:nvPr/>
        </p:nvSpPr>
        <p:spPr>
          <a:xfrm>
            <a:off x="777240" y="2468880"/>
            <a:ext cx="4572000" cy="274320"/>
          </a:xfrm>
          <a:prstGeom prst="rect">
            <a:avLst/>
          </a:prstGeom>
          <a:noFill/>
          <a:ln/>
        </p:spPr>
        <p:txBody>
          <a:bodyPr wrap="square" rtlCol="0" anchor="ctr"/>
          <a:lstStyle/>
          <a:p>
            <a:pPr marL="0" indent="0">
              <a:buNone/>
            </a:pPr>
            <a:r>
              <a:rPr lang="en-US" sz="1100" b="1" kern="0" spc="200" dirty="0">
                <a:solidFill>
                  <a:srgbClr val="0B1F3A"/>
                </a:solidFill>
                <a:latin typeface="Calibri" pitchFamily="34" charset="0"/>
                <a:ea typeface="Calibri" pitchFamily="34" charset="-122"/>
                <a:cs typeface="Calibri" pitchFamily="34" charset="-120"/>
              </a:rPr>
              <a:t>IMPACT</a:t>
            </a:r>
            <a:endParaRPr lang="en-US" sz="1100" dirty="0"/>
          </a:p>
        </p:txBody>
      </p:sp>
      <p:pic>
        <p:nvPicPr>
          <p:cNvPr id="9" name="Image 1" descr="user.png"/>
          <p:cNvPicPr>
            <a:picLocks noChangeAspect="1"/>
          </p:cNvPicPr>
          <p:nvPr/>
        </p:nvPicPr>
        <p:blipFill>
          <a:blip r:embed="rId4"/>
          <a:stretch>
            <a:fillRect/>
          </a:stretch>
        </p:blipFill>
        <p:spPr>
          <a:xfrm>
            <a:off x="777240" y="2834640"/>
            <a:ext cx="274320" cy="274320"/>
          </a:xfrm>
          <a:prstGeom prst="rect">
            <a:avLst/>
          </a:prstGeom>
        </p:spPr>
      </p:pic>
      <p:sp>
        <p:nvSpPr>
          <p:cNvPr id="10" name="Text 6"/>
          <p:cNvSpPr/>
          <p:nvPr/>
        </p:nvSpPr>
        <p:spPr>
          <a:xfrm>
            <a:off x="1188720" y="2761488"/>
            <a:ext cx="4617720" cy="640080"/>
          </a:xfrm>
          <a:prstGeom prst="rect">
            <a:avLst/>
          </a:prstGeom>
          <a:noFill/>
          <a:ln/>
        </p:spPr>
        <p:txBody>
          <a:bodyPr wrap="square" rtlCol="0" anchor="t"/>
          <a:lstStyle/>
          <a:p>
            <a:pPr marL="0" indent="0">
              <a:lnSpc>
                <a:spcPct val="115000"/>
              </a:lnSpc>
              <a:buNone/>
            </a:pPr>
            <a:r>
              <a:rPr lang="en-US" sz="1150" b="1" dirty="0">
                <a:solidFill>
                  <a:srgbClr val="142433"/>
                </a:solidFill>
                <a:latin typeface="Calibri" pitchFamily="34" charset="0"/>
                <a:ea typeface="Calibri" pitchFamily="34" charset="-122"/>
                <a:cs typeface="Calibri" pitchFamily="34" charset="-120"/>
              </a:rPr>
              <a:t>Individuals: </a:t>
            </a:r>
            <a:r>
              <a:rPr lang="en-US" sz="1150" dirty="0">
                <a:solidFill>
                  <a:srgbClr val="5C6B7A"/>
                </a:solidFill>
                <a:latin typeface="Calibri" pitchFamily="34" charset="0"/>
                <a:ea typeface="Calibri" pitchFamily="34" charset="-122"/>
                <a:cs typeface="Calibri" pitchFamily="34" charset="-120"/>
              </a:rPr>
              <a:t>Malware infection and data theft through compromised apps or services before any fix is available.</a:t>
            </a:r>
            <a:endParaRPr lang="en-US" sz="1150" dirty="0"/>
          </a:p>
        </p:txBody>
      </p:sp>
      <p:pic>
        <p:nvPicPr>
          <p:cNvPr id="11" name="Image 2" descr="building.png"/>
          <p:cNvPicPr>
            <a:picLocks noChangeAspect="1"/>
          </p:cNvPicPr>
          <p:nvPr/>
        </p:nvPicPr>
        <p:blipFill>
          <a:blip r:embed="rId5"/>
          <a:stretch>
            <a:fillRect/>
          </a:stretch>
        </p:blipFill>
        <p:spPr>
          <a:xfrm>
            <a:off x="777240" y="3520440"/>
            <a:ext cx="274320" cy="274320"/>
          </a:xfrm>
          <a:prstGeom prst="rect">
            <a:avLst/>
          </a:prstGeom>
        </p:spPr>
      </p:pic>
      <p:sp>
        <p:nvSpPr>
          <p:cNvPr id="12" name="Text 7"/>
          <p:cNvSpPr/>
          <p:nvPr/>
        </p:nvSpPr>
        <p:spPr>
          <a:xfrm>
            <a:off x="1188720" y="3447288"/>
            <a:ext cx="4617720" cy="777240"/>
          </a:xfrm>
          <a:prstGeom prst="rect">
            <a:avLst/>
          </a:prstGeom>
          <a:noFill/>
          <a:ln/>
        </p:spPr>
        <p:txBody>
          <a:bodyPr wrap="square" rtlCol="0" anchor="t"/>
          <a:lstStyle/>
          <a:p>
            <a:pPr marL="0" indent="0">
              <a:lnSpc>
                <a:spcPct val="115000"/>
              </a:lnSpc>
              <a:buNone/>
            </a:pPr>
            <a:r>
              <a:rPr lang="en-US" sz="1150" b="1" dirty="0">
                <a:solidFill>
                  <a:srgbClr val="142433"/>
                </a:solidFill>
                <a:latin typeface="Calibri" pitchFamily="34" charset="0"/>
                <a:ea typeface="Calibri" pitchFamily="34" charset="-122"/>
                <a:cs typeface="Calibri" pitchFamily="34" charset="-120"/>
              </a:rPr>
              <a:t>Organizations: </a:t>
            </a:r>
            <a:r>
              <a:rPr lang="en-US" sz="1150" dirty="0">
                <a:solidFill>
                  <a:srgbClr val="5C6B7A"/>
                </a:solidFill>
                <a:latin typeface="Calibri" pitchFamily="34" charset="0"/>
                <a:ea typeface="Calibri" pitchFamily="34" charset="-122"/>
                <a:cs typeface="Calibri" pitchFamily="34" charset="-120"/>
              </a:rPr>
              <a:t>Undetected breaches lasting weeks or months, emergency patching costs, and exposure of customer data.</a:t>
            </a:r>
            <a:endParaRPr lang="en-US" sz="1150" dirty="0"/>
          </a:p>
        </p:txBody>
      </p:sp>
      <p:sp>
        <p:nvSpPr>
          <p:cNvPr id="13" name="Shape 8"/>
          <p:cNvSpPr/>
          <p:nvPr/>
        </p:nvSpPr>
        <p:spPr>
          <a:xfrm>
            <a:off x="6172200" y="2331720"/>
            <a:ext cx="5440680" cy="2011680"/>
          </a:xfrm>
          <a:prstGeom prst="roundRect">
            <a:avLst>
              <a:gd name="adj" fmla="val 4545"/>
            </a:avLst>
          </a:prstGeom>
          <a:solidFill>
            <a:srgbClr val="0B1F3A"/>
          </a:solidFill>
          <a:ln/>
        </p:spPr>
      </p:sp>
      <p:sp>
        <p:nvSpPr>
          <p:cNvPr id="14" name="Text 9"/>
          <p:cNvSpPr/>
          <p:nvPr/>
        </p:nvSpPr>
        <p:spPr>
          <a:xfrm>
            <a:off x="6400800" y="2468880"/>
            <a:ext cx="5029200" cy="274320"/>
          </a:xfrm>
          <a:prstGeom prst="rect">
            <a:avLst/>
          </a:prstGeom>
          <a:noFill/>
          <a:ln/>
        </p:spPr>
        <p:txBody>
          <a:bodyPr wrap="square" rtlCol="0" anchor="ctr"/>
          <a:lstStyle/>
          <a:p>
            <a:pPr marL="0" indent="0">
              <a:buNone/>
            </a:pPr>
            <a:r>
              <a:rPr lang="en-US" sz="1100" b="1" kern="0" spc="200" dirty="0">
                <a:solidFill>
                  <a:srgbClr val="00B4D8"/>
                </a:solidFill>
                <a:latin typeface="Calibri" pitchFamily="34" charset="0"/>
                <a:ea typeface="Calibri" pitchFamily="34" charset="-122"/>
                <a:cs typeface="Calibri" pitchFamily="34" charset="-120"/>
              </a:rPr>
              <a:t>REAL-WORLD CASE STUDY</a:t>
            </a:r>
            <a:endParaRPr lang="en-US" sz="1100" dirty="0"/>
          </a:p>
        </p:txBody>
      </p:sp>
      <p:sp>
        <p:nvSpPr>
          <p:cNvPr id="15" name="Text 10"/>
          <p:cNvSpPr/>
          <p:nvPr/>
        </p:nvSpPr>
        <p:spPr>
          <a:xfrm>
            <a:off x="6400800" y="2743200"/>
            <a:ext cx="50292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MOVEit Transfer Zero-Day (2023)</a:t>
            </a:r>
            <a:endParaRPr lang="en-US" sz="1400" dirty="0"/>
          </a:p>
        </p:txBody>
      </p:sp>
      <p:sp>
        <p:nvSpPr>
          <p:cNvPr id="16" name="Text 11"/>
          <p:cNvSpPr/>
          <p:nvPr/>
        </p:nvSpPr>
        <p:spPr>
          <a:xfrm>
            <a:off x="6400800" y="3108960"/>
            <a:ext cx="5029200" cy="1143000"/>
          </a:xfrm>
          <a:prstGeom prst="rect">
            <a:avLst/>
          </a:prstGeom>
          <a:noFill/>
          <a:ln/>
        </p:spPr>
        <p:txBody>
          <a:bodyPr wrap="square" rtlCol="0" anchor="ctr"/>
          <a:lstStyle/>
          <a:p>
            <a:pPr marL="0" indent="0">
              <a:lnSpc>
                <a:spcPct val="120000"/>
              </a:lnSpc>
              <a:buNone/>
            </a:pPr>
            <a:r>
              <a:rPr lang="en-US" sz="1150" dirty="0">
                <a:solidFill>
                  <a:srgbClr val="D6E2ED"/>
                </a:solidFill>
                <a:latin typeface="Calibri" pitchFamily="34" charset="0"/>
                <a:ea typeface="Calibri" pitchFamily="34" charset="-122"/>
                <a:cs typeface="Calibri" pitchFamily="34" charset="-120"/>
              </a:rPr>
              <a:t>The Clop ransomware group exploited a previously unknown SQL injection flaw in MOVEit file-transfer software, compromising thousands of organizations and the data of tens of millions of individuals worldwide.</a:t>
            </a:r>
            <a:endParaRPr lang="en-US" sz="1150" dirty="0"/>
          </a:p>
        </p:txBody>
      </p:sp>
      <p:sp>
        <p:nvSpPr>
          <p:cNvPr id="17" name="Text 12"/>
          <p:cNvSpPr/>
          <p:nvPr/>
        </p:nvSpPr>
        <p:spPr>
          <a:xfrm>
            <a:off x="548640" y="4572000"/>
            <a:ext cx="5486400" cy="274320"/>
          </a:xfrm>
          <a:prstGeom prst="rect">
            <a:avLst/>
          </a:prstGeom>
          <a:noFill/>
          <a:ln/>
        </p:spPr>
        <p:txBody>
          <a:bodyPr wrap="square" rtlCol="0" anchor="ctr"/>
          <a:lstStyle/>
          <a:p>
            <a:pPr marL="0" indent="0">
              <a:buNone/>
            </a:pPr>
            <a:r>
              <a:rPr lang="en-US" sz="1100" b="1" kern="0" spc="200" dirty="0">
                <a:solidFill>
                  <a:srgbClr val="0B1F3A"/>
                </a:solidFill>
                <a:latin typeface="Calibri" pitchFamily="34" charset="0"/>
                <a:ea typeface="Calibri" pitchFamily="34" charset="-122"/>
                <a:cs typeface="Calibri" pitchFamily="34" charset="-120"/>
              </a:rPr>
              <a:t>PREVENTIVE MEASURES</a:t>
            </a:r>
            <a:endParaRPr lang="en-US" sz="1100" dirty="0"/>
          </a:p>
        </p:txBody>
      </p:sp>
      <p:sp>
        <p:nvSpPr>
          <p:cNvPr id="18" name="Shape 13"/>
          <p:cNvSpPr/>
          <p:nvPr/>
        </p:nvSpPr>
        <p:spPr>
          <a:xfrm>
            <a:off x="548640" y="4937760"/>
            <a:ext cx="3505200" cy="1417320"/>
          </a:xfrm>
          <a:prstGeom prst="roundRect">
            <a:avLst>
              <a:gd name="adj" fmla="val 5161"/>
            </a:avLst>
          </a:prstGeom>
          <a:solidFill>
            <a:srgbClr val="F1F5F8"/>
          </a:solidFill>
          <a:ln w="12700">
            <a:solidFill>
              <a:srgbClr val="DCE4EA"/>
            </a:solidFill>
            <a:prstDash val="solid"/>
          </a:ln>
        </p:spPr>
      </p:sp>
      <p:pic>
        <p:nvPicPr>
          <p:cNvPr id="19" name="Image 3" descr="check.png"/>
          <p:cNvPicPr>
            <a:picLocks noChangeAspect="1"/>
          </p:cNvPicPr>
          <p:nvPr/>
        </p:nvPicPr>
        <p:blipFill>
          <a:blip r:embed="rId6"/>
          <a:stretch>
            <a:fillRect/>
          </a:stretch>
        </p:blipFill>
        <p:spPr>
          <a:xfrm>
            <a:off x="713232" y="5102352"/>
            <a:ext cx="256032" cy="256032"/>
          </a:xfrm>
          <a:prstGeom prst="rect">
            <a:avLst/>
          </a:prstGeom>
        </p:spPr>
      </p:pic>
      <p:sp>
        <p:nvSpPr>
          <p:cNvPr id="20" name="Text 14"/>
          <p:cNvSpPr/>
          <p:nvPr/>
        </p:nvSpPr>
        <p:spPr>
          <a:xfrm>
            <a:off x="713232" y="5394960"/>
            <a:ext cx="3176016" cy="868680"/>
          </a:xfrm>
          <a:prstGeom prst="rect">
            <a:avLst/>
          </a:prstGeom>
          <a:noFill/>
          <a:ln/>
        </p:spPr>
        <p:txBody>
          <a:bodyPr wrap="square" rtlCol="0" anchor="ctr"/>
          <a:lstStyle/>
          <a:p>
            <a:pPr marL="0" indent="0">
              <a:lnSpc>
                <a:spcPct val="115000"/>
              </a:lnSpc>
              <a:buNone/>
            </a:pPr>
            <a:r>
              <a:rPr lang="en-US" sz="1100" dirty="0">
                <a:solidFill>
                  <a:srgbClr val="142433"/>
                </a:solidFill>
                <a:latin typeface="Calibri" pitchFamily="34" charset="0"/>
                <a:ea typeface="Calibri" pitchFamily="34" charset="-122"/>
                <a:cs typeface="Calibri" pitchFamily="34" charset="-120"/>
              </a:rPr>
              <a:t>Run a rapid, prioritized patch management program the moment fixes ship</a:t>
            </a:r>
            <a:endParaRPr lang="en-US" sz="1100" dirty="0"/>
          </a:p>
        </p:txBody>
      </p:sp>
      <p:sp>
        <p:nvSpPr>
          <p:cNvPr id="21" name="Shape 15"/>
          <p:cNvSpPr/>
          <p:nvPr/>
        </p:nvSpPr>
        <p:spPr>
          <a:xfrm>
            <a:off x="4328160" y="4937760"/>
            <a:ext cx="3505200" cy="1417320"/>
          </a:xfrm>
          <a:prstGeom prst="roundRect">
            <a:avLst>
              <a:gd name="adj" fmla="val 5161"/>
            </a:avLst>
          </a:prstGeom>
          <a:solidFill>
            <a:srgbClr val="F1F5F8"/>
          </a:solidFill>
          <a:ln w="12700">
            <a:solidFill>
              <a:srgbClr val="DCE4EA"/>
            </a:solidFill>
            <a:prstDash val="solid"/>
          </a:ln>
        </p:spPr>
      </p:sp>
      <p:pic>
        <p:nvPicPr>
          <p:cNvPr id="22" name="Image 4" descr="check.png"/>
          <p:cNvPicPr>
            <a:picLocks noChangeAspect="1"/>
          </p:cNvPicPr>
          <p:nvPr/>
        </p:nvPicPr>
        <p:blipFill>
          <a:blip r:embed="rId6"/>
          <a:stretch>
            <a:fillRect/>
          </a:stretch>
        </p:blipFill>
        <p:spPr>
          <a:xfrm>
            <a:off x="4492752" y="5102352"/>
            <a:ext cx="256032" cy="256032"/>
          </a:xfrm>
          <a:prstGeom prst="rect">
            <a:avLst/>
          </a:prstGeom>
        </p:spPr>
      </p:pic>
      <p:sp>
        <p:nvSpPr>
          <p:cNvPr id="23" name="Text 16"/>
          <p:cNvSpPr/>
          <p:nvPr/>
        </p:nvSpPr>
        <p:spPr>
          <a:xfrm>
            <a:off x="4492752" y="5394960"/>
            <a:ext cx="3176016" cy="868680"/>
          </a:xfrm>
          <a:prstGeom prst="rect">
            <a:avLst/>
          </a:prstGeom>
          <a:noFill/>
          <a:ln/>
        </p:spPr>
        <p:txBody>
          <a:bodyPr wrap="square" rtlCol="0" anchor="ctr"/>
          <a:lstStyle/>
          <a:p>
            <a:pPr marL="0" indent="0">
              <a:lnSpc>
                <a:spcPct val="115000"/>
              </a:lnSpc>
              <a:buNone/>
            </a:pPr>
            <a:r>
              <a:rPr lang="en-US" sz="1100" dirty="0">
                <a:solidFill>
                  <a:srgbClr val="142433"/>
                </a:solidFill>
                <a:latin typeface="Calibri" pitchFamily="34" charset="0"/>
                <a:ea typeface="Calibri" pitchFamily="34" charset="-122"/>
                <a:cs typeface="Calibri" pitchFamily="34" charset="-120"/>
              </a:rPr>
              <a:t>Deploy Intrusion Detection / Prevention Systems (IDS/IPS) to catch anomalous behavior</a:t>
            </a:r>
            <a:endParaRPr lang="en-US" sz="1100" dirty="0"/>
          </a:p>
        </p:txBody>
      </p:sp>
      <p:sp>
        <p:nvSpPr>
          <p:cNvPr id="24" name="Shape 17"/>
          <p:cNvSpPr/>
          <p:nvPr/>
        </p:nvSpPr>
        <p:spPr>
          <a:xfrm>
            <a:off x="8107680" y="4937760"/>
            <a:ext cx="3505200" cy="1417320"/>
          </a:xfrm>
          <a:prstGeom prst="roundRect">
            <a:avLst>
              <a:gd name="adj" fmla="val 5161"/>
            </a:avLst>
          </a:prstGeom>
          <a:solidFill>
            <a:srgbClr val="F1F5F8"/>
          </a:solidFill>
          <a:ln w="12700">
            <a:solidFill>
              <a:srgbClr val="DCE4EA"/>
            </a:solidFill>
            <a:prstDash val="solid"/>
          </a:ln>
        </p:spPr>
      </p:sp>
      <p:pic>
        <p:nvPicPr>
          <p:cNvPr id="25" name="Image 5" descr="check.png"/>
          <p:cNvPicPr>
            <a:picLocks noChangeAspect="1"/>
          </p:cNvPicPr>
          <p:nvPr/>
        </p:nvPicPr>
        <p:blipFill>
          <a:blip r:embed="rId6"/>
          <a:stretch>
            <a:fillRect/>
          </a:stretch>
        </p:blipFill>
        <p:spPr>
          <a:xfrm>
            <a:off x="8272272" y="5102352"/>
            <a:ext cx="256032" cy="256032"/>
          </a:xfrm>
          <a:prstGeom prst="rect">
            <a:avLst/>
          </a:prstGeom>
        </p:spPr>
      </p:pic>
      <p:sp>
        <p:nvSpPr>
          <p:cNvPr id="26" name="Text 18"/>
          <p:cNvSpPr/>
          <p:nvPr/>
        </p:nvSpPr>
        <p:spPr>
          <a:xfrm>
            <a:off x="8272272" y="5394960"/>
            <a:ext cx="3176016" cy="868680"/>
          </a:xfrm>
          <a:prstGeom prst="rect">
            <a:avLst/>
          </a:prstGeom>
          <a:noFill/>
          <a:ln/>
        </p:spPr>
        <p:txBody>
          <a:bodyPr wrap="square" rtlCol="0" anchor="ctr"/>
          <a:lstStyle/>
          <a:p>
            <a:pPr marL="0" indent="0">
              <a:lnSpc>
                <a:spcPct val="115000"/>
              </a:lnSpc>
              <a:buNone/>
            </a:pPr>
            <a:r>
              <a:rPr lang="en-US" sz="1100" dirty="0">
                <a:solidFill>
                  <a:srgbClr val="142433"/>
                </a:solidFill>
                <a:latin typeface="Calibri" pitchFamily="34" charset="0"/>
                <a:ea typeface="Calibri" pitchFamily="34" charset="-122"/>
                <a:cs typeface="Calibri" pitchFamily="34" charset="-120"/>
              </a:rPr>
              <a:t>Subscribe to threat intelligence feeds for early warning of active exploitation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42433"/>
                </a:solidFill>
                <a:latin typeface="Cambria" pitchFamily="34" charset="0"/>
                <a:ea typeface="Cambria" pitchFamily="34" charset="-122"/>
                <a:cs typeface="Cambria" pitchFamily="34" charset="-120"/>
              </a:rPr>
              <a:t>Threats at a Glance</a:t>
            </a:r>
            <a:endParaRPr lang="en-US" sz="2800" dirty="0"/>
          </a:p>
        </p:txBody>
      </p:sp>
      <p:sp>
        <p:nvSpPr>
          <p:cNvPr id="3" name="Text 1"/>
          <p:cNvSpPr/>
          <p:nvPr/>
        </p:nvSpPr>
        <p:spPr>
          <a:xfrm>
            <a:off x="548640" y="960120"/>
            <a:ext cx="9144000" cy="365760"/>
          </a:xfrm>
          <a:prstGeom prst="rect">
            <a:avLst/>
          </a:prstGeom>
          <a:noFill/>
          <a:ln/>
        </p:spPr>
        <p:txBody>
          <a:bodyPr wrap="square" rtlCol="0" anchor="ctr"/>
          <a:lstStyle/>
          <a:p>
            <a:pPr marL="0" indent="0">
              <a:buNone/>
            </a:pPr>
            <a:r>
              <a:rPr lang="en-US" sz="1300" i="1" dirty="0">
                <a:solidFill>
                  <a:srgbClr val="5C6B7A"/>
                </a:solidFill>
                <a:latin typeface="Calibri" pitchFamily="34" charset="0"/>
                <a:ea typeface="Calibri" pitchFamily="34" charset="-122"/>
                <a:cs typeface="Calibri" pitchFamily="34" charset="-120"/>
              </a:rPr>
              <a:t>A side-by-side view of every threat covered in this report</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4480560"/>
        </p:xfrm>
        <a:graphic>
          <a:graphicData uri="http://schemas.openxmlformats.org/drawingml/2006/table">
            <a:tbl>
              <a:tblPr/>
              <a:tblGrid>
                <a:gridCol w="28346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74676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Threat</a:t>
                      </a:r>
                      <a:endParaRPr lang="en-US" sz="1150" dirty="0">
                        <a:latin typeface="Calibri" charset="0"/>
                        <a:ea typeface="Calibri" charset="0"/>
                        <a:cs typeface="Calibri" charset="0"/>
                      </a:endParaRPr>
                    </a:p>
                  </a:txBody>
                  <a:tcPr marL="101600" marR="101600" marT="76200" marB="7620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0B1F3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Primary Risk</a:t>
                      </a:r>
                      <a:endParaRPr lang="en-US" sz="1150" dirty="0">
                        <a:latin typeface="Calibri" charset="0"/>
                        <a:ea typeface="Calibri" charset="0"/>
                        <a:cs typeface="Calibri" charset="0"/>
                      </a:endParaRPr>
                    </a:p>
                  </a:txBody>
                  <a:tcPr marL="101600" marR="101600" marT="76200" marB="7620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0B1F3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Case Study</a:t>
                      </a:r>
                      <a:endParaRPr lang="en-US" sz="1150" dirty="0">
                        <a:latin typeface="Calibri" charset="0"/>
                        <a:ea typeface="Calibri" charset="0"/>
                        <a:cs typeface="Calibri" charset="0"/>
                      </a:endParaRPr>
                    </a:p>
                  </a:txBody>
                  <a:tcPr marL="101600" marR="101600" marT="76200" marB="7620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0B1F3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Key Defense</a:t>
                      </a:r>
                      <a:endParaRPr lang="en-US" sz="1150" dirty="0">
                        <a:latin typeface="Calibri" charset="0"/>
                        <a:ea typeface="Calibri" charset="0"/>
                        <a:cs typeface="Calibri" charset="0"/>
                      </a:endParaRPr>
                    </a:p>
                  </a:txBody>
                  <a:tcPr marL="101600" marR="101600" marT="76200" marB="7620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746760">
                <a:tc>
                  <a:txBody>
                    <a:bodyPr/>
                    <a:lstStyle/>
                    <a:p>
                      <a:pPr marL="0" indent="0">
                        <a:buNone/>
                      </a:pPr>
                      <a:r>
                        <a:rPr lang="en-US" sz="1150" dirty="0">
                          <a:solidFill>
                            <a:srgbClr val="142433"/>
                          </a:solidFill>
                          <a:latin typeface="Calibri" pitchFamily="34" charset="0"/>
                          <a:ea typeface="Calibri" pitchFamily="34" charset="-122"/>
                          <a:cs typeface="Calibri" pitchFamily="34" charset="-120"/>
                        </a:rPr>
                        <a:t>AI-Powered Phishing</a:t>
                      </a:r>
                      <a:endParaRPr lang="en-US" sz="1150" dirty="0">
                        <a:latin typeface="Calibri" charset="0"/>
                        <a:ea typeface="Calibri" charset="0"/>
                        <a:cs typeface="Calibri" charset="0"/>
                      </a:endParaRPr>
                    </a:p>
                  </a:txBody>
                  <a:tcPr marL="101600" marR="101600" marT="76200" marB="7620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FFFFFF"/>
                    </a:solidFill>
                  </a:tcPr>
                </a:tc>
                <a:tc>
                  <a:txBody>
                    <a:bodyPr/>
                    <a:lstStyle/>
                    <a:p>
                      <a:pPr marL="0" indent="0">
                        <a:buNone/>
                      </a:pPr>
                      <a:r>
                        <a:rPr lang="en-US" sz="1150" dirty="0">
                          <a:solidFill>
                            <a:srgbClr val="142433"/>
                          </a:solidFill>
                          <a:latin typeface="Calibri" pitchFamily="34" charset="0"/>
                          <a:ea typeface="Calibri" pitchFamily="34" charset="-122"/>
                          <a:cs typeface="Calibri" pitchFamily="34" charset="-120"/>
                        </a:rPr>
                        <a:t>Impersonation fraud</a:t>
                      </a:r>
                      <a:endParaRPr lang="en-US" sz="1150" dirty="0">
                        <a:latin typeface="Calibri" charset="0"/>
                        <a:ea typeface="Calibri" charset="0"/>
                        <a:cs typeface="Calibri" charset="0"/>
                      </a:endParaRPr>
                    </a:p>
                  </a:txBody>
                  <a:tcPr marL="101600" marR="101600" marT="76200" marB="7620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FFFFFF"/>
                    </a:solidFill>
                  </a:tcPr>
                </a:tc>
                <a:tc>
                  <a:txBody>
                    <a:bodyPr/>
                    <a:lstStyle/>
                    <a:p>
                      <a:pPr marL="0" indent="0">
                        <a:buNone/>
                      </a:pPr>
                      <a:r>
                        <a:rPr lang="en-US" sz="1150" dirty="0">
                          <a:solidFill>
                            <a:srgbClr val="142433"/>
                          </a:solidFill>
                          <a:latin typeface="Calibri" pitchFamily="34" charset="0"/>
                          <a:ea typeface="Calibri" pitchFamily="34" charset="-122"/>
                          <a:cs typeface="Calibri" pitchFamily="34" charset="-120"/>
                        </a:rPr>
                        <a:t>Arup, 2024 ($25.6M)</a:t>
                      </a:r>
                      <a:endParaRPr lang="en-US" sz="1150" dirty="0">
                        <a:latin typeface="Calibri" charset="0"/>
                        <a:ea typeface="Calibri" charset="0"/>
                        <a:cs typeface="Calibri" charset="0"/>
                      </a:endParaRPr>
                    </a:p>
                  </a:txBody>
                  <a:tcPr marL="101600" marR="101600" marT="76200" marB="7620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FFFFFF"/>
                    </a:solidFill>
                  </a:tcPr>
                </a:tc>
                <a:tc>
                  <a:txBody>
                    <a:bodyPr/>
                    <a:lstStyle/>
                    <a:p>
                      <a:pPr marL="0" indent="0">
                        <a:buNone/>
                      </a:pPr>
                      <a:r>
                        <a:rPr lang="en-US" sz="1150" dirty="0">
                          <a:solidFill>
                            <a:srgbClr val="142433"/>
                          </a:solidFill>
                          <a:latin typeface="Calibri" pitchFamily="34" charset="0"/>
                          <a:ea typeface="Calibri" pitchFamily="34" charset="-122"/>
                          <a:cs typeface="Calibri" pitchFamily="34" charset="-120"/>
                        </a:rPr>
                        <a:t>Out-of-band verification</a:t>
                      </a:r>
                      <a:endParaRPr lang="en-US" sz="1150" dirty="0">
                        <a:latin typeface="Calibri" charset="0"/>
                        <a:ea typeface="Calibri" charset="0"/>
                        <a:cs typeface="Calibri" charset="0"/>
                      </a:endParaRPr>
                    </a:p>
                  </a:txBody>
                  <a:tcPr marL="101600" marR="101600" marT="76200" marB="7620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6760">
                <a:tc>
                  <a:txBody>
                    <a:bodyPr/>
                    <a:lstStyle/>
                    <a:p>
                      <a:pPr marL="0" indent="0">
                        <a:buNone/>
                      </a:pPr>
                      <a:r>
                        <a:rPr lang="en-US" sz="1150" dirty="0">
                          <a:solidFill>
                            <a:srgbClr val="142433"/>
                          </a:solidFill>
                          <a:latin typeface="Calibri" pitchFamily="34" charset="0"/>
                          <a:ea typeface="Calibri" pitchFamily="34" charset="-122"/>
                          <a:cs typeface="Calibri" pitchFamily="34" charset="-120"/>
                        </a:rPr>
                        <a:t>Ransomware-as-a-Service</a:t>
                      </a:r>
                      <a:endParaRPr lang="en-US" sz="1150" dirty="0">
                        <a:latin typeface="Calibri" charset="0"/>
                        <a:ea typeface="Calibri" charset="0"/>
                        <a:cs typeface="Calibri" charset="0"/>
                      </a:endParaRPr>
                    </a:p>
                  </a:txBody>
                  <a:tcPr marL="101600" marR="101600" marT="76200" marB="7620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F1F5F8"/>
                    </a:solidFill>
                  </a:tcPr>
                </a:tc>
                <a:tc>
                  <a:txBody>
                    <a:bodyPr/>
                    <a:lstStyle/>
                    <a:p>
                      <a:pPr marL="0" indent="0">
                        <a:buNone/>
                      </a:pPr>
                      <a:r>
                        <a:rPr lang="en-US" sz="1150" dirty="0">
                          <a:solidFill>
                            <a:srgbClr val="142433"/>
                          </a:solidFill>
                          <a:latin typeface="Calibri" pitchFamily="34" charset="0"/>
                          <a:ea typeface="Calibri" pitchFamily="34" charset="-122"/>
                          <a:cs typeface="Calibri" pitchFamily="34" charset="-120"/>
                        </a:rPr>
                        <a:t>Extortion &amp; downtime</a:t>
                      </a:r>
                      <a:endParaRPr lang="en-US" sz="1150" dirty="0">
                        <a:latin typeface="Calibri" charset="0"/>
                        <a:ea typeface="Calibri" charset="0"/>
                        <a:cs typeface="Calibri" charset="0"/>
                      </a:endParaRPr>
                    </a:p>
                  </a:txBody>
                  <a:tcPr marL="101600" marR="101600" marT="76200" marB="7620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F1F5F8"/>
                    </a:solidFill>
                  </a:tcPr>
                </a:tc>
                <a:tc>
                  <a:txBody>
                    <a:bodyPr/>
                    <a:lstStyle/>
                    <a:p>
                      <a:pPr marL="0" indent="0">
                        <a:buNone/>
                      </a:pPr>
                      <a:r>
                        <a:rPr lang="en-US" sz="1150" dirty="0">
                          <a:solidFill>
                            <a:srgbClr val="142433"/>
                          </a:solidFill>
                          <a:latin typeface="Calibri" pitchFamily="34" charset="0"/>
                          <a:ea typeface="Calibri" pitchFamily="34" charset="-122"/>
                          <a:cs typeface="Calibri" pitchFamily="34" charset="-120"/>
                        </a:rPr>
                        <a:t>Colonial Pipeline, 2021</a:t>
                      </a:r>
                      <a:endParaRPr lang="en-US" sz="1150" dirty="0">
                        <a:latin typeface="Calibri" charset="0"/>
                        <a:ea typeface="Calibri" charset="0"/>
                        <a:cs typeface="Calibri" charset="0"/>
                      </a:endParaRPr>
                    </a:p>
                  </a:txBody>
                  <a:tcPr marL="101600" marR="101600" marT="76200" marB="7620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F1F5F8"/>
                    </a:solidFill>
                  </a:tcPr>
                </a:tc>
                <a:tc>
                  <a:txBody>
                    <a:bodyPr/>
                    <a:lstStyle/>
                    <a:p>
                      <a:pPr marL="0" indent="0">
                        <a:buNone/>
                      </a:pPr>
                      <a:r>
                        <a:rPr lang="en-US" sz="1150" dirty="0">
                          <a:solidFill>
                            <a:srgbClr val="142433"/>
                          </a:solidFill>
                          <a:latin typeface="Calibri" pitchFamily="34" charset="0"/>
                          <a:ea typeface="Calibri" pitchFamily="34" charset="-122"/>
                          <a:cs typeface="Calibri" pitchFamily="34" charset="-120"/>
                        </a:rPr>
                        <a:t>Immutable backups</a:t>
                      </a:r>
                      <a:endParaRPr lang="en-US" sz="1150" dirty="0">
                        <a:latin typeface="Calibri" charset="0"/>
                        <a:ea typeface="Calibri" charset="0"/>
                        <a:cs typeface="Calibri" charset="0"/>
                      </a:endParaRPr>
                    </a:p>
                  </a:txBody>
                  <a:tcPr marL="101600" marR="101600" marT="76200" marB="7620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F1F5F8"/>
                    </a:solidFill>
                  </a:tcPr>
                </a:tc>
                <a:extLst>
                  <a:ext uri="{0D108BD9-81ED-4DB2-BD59-A6C34878D82A}">
                    <a16:rowId xmlns:a16="http://schemas.microsoft.com/office/drawing/2014/main" val="10002"/>
                  </a:ext>
                </a:extLst>
              </a:tr>
              <a:tr h="746760">
                <a:tc>
                  <a:txBody>
                    <a:bodyPr/>
                    <a:lstStyle/>
                    <a:p>
                      <a:pPr marL="0" indent="0">
                        <a:buNone/>
                      </a:pPr>
                      <a:r>
                        <a:rPr lang="en-US" sz="1150" dirty="0">
                          <a:solidFill>
                            <a:srgbClr val="142433"/>
                          </a:solidFill>
                          <a:latin typeface="Calibri" pitchFamily="34" charset="0"/>
                          <a:ea typeface="Calibri" pitchFamily="34" charset="-122"/>
                          <a:cs typeface="Calibri" pitchFamily="34" charset="-120"/>
                        </a:rPr>
                        <a:t>Cloud Misconfigurations</a:t>
                      </a:r>
                      <a:endParaRPr lang="en-US" sz="1150" dirty="0">
                        <a:latin typeface="Calibri" charset="0"/>
                        <a:ea typeface="Calibri" charset="0"/>
                        <a:cs typeface="Calibri" charset="0"/>
                      </a:endParaRPr>
                    </a:p>
                  </a:txBody>
                  <a:tcPr marL="101600" marR="101600" marT="76200" marB="7620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FFFFFF"/>
                    </a:solidFill>
                  </a:tcPr>
                </a:tc>
                <a:tc>
                  <a:txBody>
                    <a:bodyPr/>
                    <a:lstStyle/>
                    <a:p>
                      <a:pPr marL="0" indent="0">
                        <a:buNone/>
                      </a:pPr>
                      <a:r>
                        <a:rPr lang="en-US" sz="1150" dirty="0">
                          <a:solidFill>
                            <a:srgbClr val="142433"/>
                          </a:solidFill>
                          <a:latin typeface="Calibri" pitchFamily="34" charset="0"/>
                          <a:ea typeface="Calibri" pitchFamily="34" charset="-122"/>
                          <a:cs typeface="Calibri" pitchFamily="34" charset="-120"/>
                        </a:rPr>
                        <a:t>Mass data exposure</a:t>
                      </a:r>
                      <a:endParaRPr lang="en-US" sz="1150" dirty="0">
                        <a:latin typeface="Calibri" charset="0"/>
                        <a:ea typeface="Calibri" charset="0"/>
                        <a:cs typeface="Calibri" charset="0"/>
                      </a:endParaRPr>
                    </a:p>
                  </a:txBody>
                  <a:tcPr marL="101600" marR="101600" marT="76200" marB="7620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FFFFFF"/>
                    </a:solidFill>
                  </a:tcPr>
                </a:tc>
                <a:tc>
                  <a:txBody>
                    <a:bodyPr/>
                    <a:lstStyle/>
                    <a:p>
                      <a:pPr marL="0" indent="0">
                        <a:buNone/>
                      </a:pPr>
                      <a:r>
                        <a:rPr lang="en-US" sz="1150" dirty="0">
                          <a:solidFill>
                            <a:srgbClr val="142433"/>
                          </a:solidFill>
                          <a:latin typeface="Calibri" pitchFamily="34" charset="0"/>
                          <a:ea typeface="Calibri" pitchFamily="34" charset="-122"/>
                          <a:cs typeface="Calibri" pitchFamily="34" charset="-120"/>
                        </a:rPr>
                        <a:t>Capital One, 2019</a:t>
                      </a:r>
                      <a:endParaRPr lang="en-US" sz="1150" dirty="0">
                        <a:latin typeface="Calibri" charset="0"/>
                        <a:ea typeface="Calibri" charset="0"/>
                        <a:cs typeface="Calibri" charset="0"/>
                      </a:endParaRPr>
                    </a:p>
                  </a:txBody>
                  <a:tcPr marL="101600" marR="101600" marT="76200" marB="7620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FFFFFF"/>
                    </a:solidFill>
                  </a:tcPr>
                </a:tc>
                <a:tc>
                  <a:txBody>
                    <a:bodyPr/>
                    <a:lstStyle/>
                    <a:p>
                      <a:pPr marL="0" indent="0">
                        <a:buNone/>
                      </a:pPr>
                      <a:r>
                        <a:rPr lang="en-US" sz="1150" dirty="0">
                          <a:solidFill>
                            <a:srgbClr val="142433"/>
                          </a:solidFill>
                          <a:latin typeface="Calibri" pitchFamily="34" charset="0"/>
                          <a:ea typeface="Calibri" pitchFamily="34" charset="-122"/>
                          <a:cs typeface="Calibri" pitchFamily="34" charset="-120"/>
                        </a:rPr>
                        <a:t>CSPM &amp; least privilege</a:t>
                      </a:r>
                      <a:endParaRPr lang="en-US" sz="1150" dirty="0">
                        <a:latin typeface="Calibri" charset="0"/>
                        <a:ea typeface="Calibri" charset="0"/>
                        <a:cs typeface="Calibri" charset="0"/>
                      </a:endParaRPr>
                    </a:p>
                  </a:txBody>
                  <a:tcPr marL="101600" marR="101600" marT="76200" marB="7620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46760">
                <a:tc>
                  <a:txBody>
                    <a:bodyPr/>
                    <a:lstStyle/>
                    <a:p>
                      <a:pPr marL="0" indent="0">
                        <a:buNone/>
                      </a:pPr>
                      <a:r>
                        <a:rPr lang="en-US" sz="1150" dirty="0">
                          <a:solidFill>
                            <a:srgbClr val="142433"/>
                          </a:solidFill>
                          <a:latin typeface="Calibri" pitchFamily="34" charset="0"/>
                          <a:ea typeface="Calibri" pitchFamily="34" charset="-122"/>
                          <a:cs typeface="Calibri" pitchFamily="34" charset="-120"/>
                        </a:rPr>
                        <a:t>IoT Vulnerabilities</a:t>
                      </a:r>
                      <a:endParaRPr lang="en-US" sz="1150" dirty="0">
                        <a:latin typeface="Calibri" charset="0"/>
                        <a:ea typeface="Calibri" charset="0"/>
                        <a:cs typeface="Calibri" charset="0"/>
                      </a:endParaRPr>
                    </a:p>
                  </a:txBody>
                  <a:tcPr marL="101600" marR="101600" marT="76200" marB="7620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F1F5F8"/>
                    </a:solidFill>
                  </a:tcPr>
                </a:tc>
                <a:tc>
                  <a:txBody>
                    <a:bodyPr/>
                    <a:lstStyle/>
                    <a:p>
                      <a:pPr marL="0" indent="0">
                        <a:buNone/>
                      </a:pPr>
                      <a:r>
                        <a:rPr lang="en-US" sz="1150" dirty="0">
                          <a:solidFill>
                            <a:srgbClr val="142433"/>
                          </a:solidFill>
                          <a:latin typeface="Calibri" pitchFamily="34" charset="0"/>
                          <a:ea typeface="Calibri" pitchFamily="34" charset="-122"/>
                          <a:cs typeface="Calibri" pitchFamily="34" charset="-120"/>
                        </a:rPr>
                        <a:t>Botnet recruitment</a:t>
                      </a:r>
                      <a:endParaRPr lang="en-US" sz="1150" dirty="0">
                        <a:latin typeface="Calibri" charset="0"/>
                        <a:ea typeface="Calibri" charset="0"/>
                        <a:cs typeface="Calibri" charset="0"/>
                      </a:endParaRPr>
                    </a:p>
                  </a:txBody>
                  <a:tcPr marL="101600" marR="101600" marT="76200" marB="7620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F1F5F8"/>
                    </a:solidFill>
                  </a:tcPr>
                </a:tc>
                <a:tc>
                  <a:txBody>
                    <a:bodyPr/>
                    <a:lstStyle/>
                    <a:p>
                      <a:pPr marL="0" indent="0">
                        <a:buNone/>
                      </a:pPr>
                      <a:r>
                        <a:rPr lang="en-US" sz="1150" dirty="0">
                          <a:solidFill>
                            <a:srgbClr val="142433"/>
                          </a:solidFill>
                          <a:latin typeface="Calibri" pitchFamily="34" charset="0"/>
                          <a:ea typeface="Calibri" pitchFamily="34" charset="-122"/>
                          <a:cs typeface="Calibri" pitchFamily="34" charset="-120"/>
                        </a:rPr>
                        <a:t>Mirai Botnet, 2016</a:t>
                      </a:r>
                      <a:endParaRPr lang="en-US" sz="1150" dirty="0">
                        <a:latin typeface="Calibri" charset="0"/>
                        <a:ea typeface="Calibri" charset="0"/>
                        <a:cs typeface="Calibri" charset="0"/>
                      </a:endParaRPr>
                    </a:p>
                  </a:txBody>
                  <a:tcPr marL="101600" marR="101600" marT="76200" marB="7620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F1F5F8"/>
                    </a:solidFill>
                  </a:tcPr>
                </a:tc>
                <a:tc>
                  <a:txBody>
                    <a:bodyPr/>
                    <a:lstStyle/>
                    <a:p>
                      <a:pPr marL="0" indent="0">
                        <a:buNone/>
                      </a:pPr>
                      <a:r>
                        <a:rPr lang="en-US" sz="1150" dirty="0">
                          <a:solidFill>
                            <a:srgbClr val="142433"/>
                          </a:solidFill>
                          <a:latin typeface="Calibri" pitchFamily="34" charset="0"/>
                          <a:ea typeface="Calibri" pitchFamily="34" charset="-122"/>
                          <a:cs typeface="Calibri" pitchFamily="34" charset="-120"/>
                        </a:rPr>
                        <a:t>Change default credentials</a:t>
                      </a:r>
                      <a:endParaRPr lang="en-US" sz="1150" dirty="0">
                        <a:latin typeface="Calibri" charset="0"/>
                        <a:ea typeface="Calibri" charset="0"/>
                        <a:cs typeface="Calibri" charset="0"/>
                      </a:endParaRPr>
                    </a:p>
                  </a:txBody>
                  <a:tcPr marL="101600" marR="101600" marT="76200" marB="7620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F1F5F8"/>
                    </a:solidFill>
                  </a:tcPr>
                </a:tc>
                <a:extLst>
                  <a:ext uri="{0D108BD9-81ED-4DB2-BD59-A6C34878D82A}">
                    <a16:rowId xmlns:a16="http://schemas.microsoft.com/office/drawing/2014/main" val="10004"/>
                  </a:ext>
                </a:extLst>
              </a:tr>
              <a:tr h="746760">
                <a:tc>
                  <a:txBody>
                    <a:bodyPr/>
                    <a:lstStyle/>
                    <a:p>
                      <a:pPr marL="0" indent="0">
                        <a:buNone/>
                      </a:pPr>
                      <a:r>
                        <a:rPr lang="en-US" sz="1150" dirty="0">
                          <a:solidFill>
                            <a:srgbClr val="142433"/>
                          </a:solidFill>
                          <a:latin typeface="Calibri" pitchFamily="34" charset="0"/>
                          <a:ea typeface="Calibri" pitchFamily="34" charset="-122"/>
                          <a:cs typeface="Calibri" pitchFamily="34" charset="-120"/>
                        </a:rPr>
                        <a:t>Zero-Day Exploits</a:t>
                      </a:r>
                      <a:endParaRPr lang="en-US" sz="1150" dirty="0">
                        <a:latin typeface="Calibri" charset="0"/>
                        <a:ea typeface="Calibri" charset="0"/>
                        <a:cs typeface="Calibri" charset="0"/>
                      </a:endParaRPr>
                    </a:p>
                  </a:txBody>
                  <a:tcPr marL="101600" marR="101600" marT="76200" marB="7620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FFFFFF"/>
                    </a:solidFill>
                  </a:tcPr>
                </a:tc>
                <a:tc>
                  <a:txBody>
                    <a:bodyPr/>
                    <a:lstStyle/>
                    <a:p>
                      <a:pPr marL="0" indent="0">
                        <a:buNone/>
                      </a:pPr>
                      <a:r>
                        <a:rPr lang="en-US" sz="1150" dirty="0">
                          <a:solidFill>
                            <a:srgbClr val="142433"/>
                          </a:solidFill>
                          <a:latin typeface="Calibri" pitchFamily="34" charset="0"/>
                          <a:ea typeface="Calibri" pitchFamily="34" charset="-122"/>
                          <a:cs typeface="Calibri" pitchFamily="34" charset="-120"/>
                        </a:rPr>
                        <a:t>Undetected breach</a:t>
                      </a:r>
                      <a:endParaRPr lang="en-US" sz="1150" dirty="0">
                        <a:latin typeface="Calibri" charset="0"/>
                        <a:ea typeface="Calibri" charset="0"/>
                        <a:cs typeface="Calibri" charset="0"/>
                      </a:endParaRPr>
                    </a:p>
                  </a:txBody>
                  <a:tcPr marL="101600" marR="101600" marT="76200" marB="7620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FFFFFF"/>
                    </a:solidFill>
                  </a:tcPr>
                </a:tc>
                <a:tc>
                  <a:txBody>
                    <a:bodyPr/>
                    <a:lstStyle/>
                    <a:p>
                      <a:pPr marL="0" indent="0">
                        <a:buNone/>
                      </a:pPr>
                      <a:r>
                        <a:rPr lang="en-US" sz="1150" dirty="0">
                          <a:solidFill>
                            <a:srgbClr val="142433"/>
                          </a:solidFill>
                          <a:latin typeface="Calibri" pitchFamily="34" charset="0"/>
                          <a:ea typeface="Calibri" pitchFamily="34" charset="-122"/>
                          <a:cs typeface="Calibri" pitchFamily="34" charset="-120"/>
                        </a:rPr>
                        <a:t>MOVEit, 2023</a:t>
                      </a:r>
                      <a:endParaRPr lang="en-US" sz="1150" dirty="0">
                        <a:latin typeface="Calibri" charset="0"/>
                        <a:ea typeface="Calibri" charset="0"/>
                        <a:cs typeface="Calibri" charset="0"/>
                      </a:endParaRPr>
                    </a:p>
                  </a:txBody>
                  <a:tcPr marL="101600" marR="101600" marT="76200" marB="7620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FFFFFF"/>
                    </a:solidFill>
                  </a:tcPr>
                </a:tc>
                <a:tc>
                  <a:txBody>
                    <a:bodyPr/>
                    <a:lstStyle/>
                    <a:p>
                      <a:pPr marL="0" indent="0">
                        <a:buNone/>
                      </a:pPr>
                      <a:r>
                        <a:rPr lang="en-US" sz="1150" dirty="0">
                          <a:solidFill>
                            <a:srgbClr val="142433"/>
                          </a:solidFill>
                          <a:latin typeface="Calibri" pitchFamily="34" charset="0"/>
                          <a:ea typeface="Calibri" pitchFamily="34" charset="-122"/>
                          <a:cs typeface="Calibri" pitchFamily="34" charset="-120"/>
                        </a:rPr>
                        <a:t>Rapid patch management</a:t>
                      </a:r>
                      <a:endParaRPr lang="en-US" sz="1150" dirty="0">
                        <a:latin typeface="Calibri" charset="0"/>
                        <a:ea typeface="Calibri" charset="0"/>
                        <a:cs typeface="Calibri" charset="0"/>
                      </a:endParaRPr>
                    </a:p>
                  </a:txBody>
                  <a:tcPr marL="101600" marR="101600" marT="76200" marB="7620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548640" y="548640"/>
            <a:ext cx="100584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 &amp; Future Scope</a:t>
            </a:r>
            <a:endParaRPr lang="en-US" sz="3200" dirty="0"/>
          </a:p>
        </p:txBody>
      </p:sp>
      <p:sp>
        <p:nvSpPr>
          <p:cNvPr id="3" name="Shape 1"/>
          <p:cNvSpPr/>
          <p:nvPr/>
        </p:nvSpPr>
        <p:spPr>
          <a:xfrm>
            <a:off x="548640" y="1463040"/>
            <a:ext cx="11064240" cy="1554480"/>
          </a:xfrm>
          <a:prstGeom prst="roundRect">
            <a:avLst>
              <a:gd name="adj" fmla="val 5882"/>
            </a:avLst>
          </a:prstGeom>
          <a:solidFill>
            <a:srgbClr val="13293D"/>
          </a:solidFill>
          <a:ln/>
        </p:spPr>
      </p:sp>
      <p:pic>
        <p:nvPicPr>
          <p:cNvPr id="4" name="Image 0" descr="shield.png"/>
          <p:cNvPicPr>
            <a:picLocks noChangeAspect="1"/>
          </p:cNvPicPr>
          <p:nvPr/>
        </p:nvPicPr>
        <p:blipFill>
          <a:blip r:embed="rId3"/>
          <a:stretch>
            <a:fillRect/>
          </a:stretch>
        </p:blipFill>
        <p:spPr>
          <a:xfrm>
            <a:off x="822960" y="1783080"/>
            <a:ext cx="822960" cy="822960"/>
          </a:xfrm>
          <a:prstGeom prst="rect">
            <a:avLst/>
          </a:prstGeom>
        </p:spPr>
      </p:pic>
      <p:sp>
        <p:nvSpPr>
          <p:cNvPr id="5" name="Text 2"/>
          <p:cNvSpPr/>
          <p:nvPr/>
        </p:nvSpPr>
        <p:spPr>
          <a:xfrm>
            <a:off x="1920240" y="1600200"/>
            <a:ext cx="9418320" cy="1280160"/>
          </a:xfrm>
          <a:prstGeom prst="rect">
            <a:avLst/>
          </a:prstGeom>
          <a:noFill/>
          <a:ln/>
        </p:spPr>
        <p:txBody>
          <a:bodyPr wrap="square" rtlCol="0" anchor="ctr"/>
          <a:lstStyle/>
          <a:p>
            <a:pPr marL="0" indent="0">
              <a:lnSpc>
                <a:spcPct val="130000"/>
              </a:lnSpc>
              <a:buNone/>
            </a:pPr>
            <a:r>
              <a:rPr lang="en-US" sz="1450" dirty="0">
                <a:solidFill>
                  <a:srgbClr val="D6E2ED"/>
                </a:solidFill>
                <a:latin typeface="Calibri" pitchFamily="34" charset="0"/>
                <a:ea typeface="Calibri" pitchFamily="34" charset="-122"/>
                <a:cs typeface="Calibri" pitchFamily="34" charset="-120"/>
              </a:rPr>
              <a:t>Proactive cybersecurity — not reactive cleanup — is what keeps individuals and organizations resilient. Preventing an incident is consistently far cheaper than recovering from one, in both cost and trust.</a:t>
            </a:r>
            <a:endParaRPr lang="en-US" sz="1450" dirty="0"/>
          </a:p>
        </p:txBody>
      </p:sp>
      <p:pic>
        <p:nvPicPr>
          <p:cNvPr id="6" name="Image 1" descr="grad.png"/>
          <p:cNvPicPr>
            <a:picLocks noChangeAspect="1"/>
          </p:cNvPicPr>
          <p:nvPr/>
        </p:nvPicPr>
        <p:blipFill>
          <a:blip r:embed="rId4"/>
          <a:stretch>
            <a:fillRect/>
          </a:stretch>
        </p:blipFill>
        <p:spPr>
          <a:xfrm>
            <a:off x="822960" y="3429000"/>
            <a:ext cx="822960" cy="822960"/>
          </a:xfrm>
          <a:prstGeom prst="rect">
            <a:avLst/>
          </a:prstGeom>
        </p:spPr>
      </p:pic>
      <p:sp>
        <p:nvSpPr>
          <p:cNvPr id="7" name="Text 3"/>
          <p:cNvSpPr/>
          <p:nvPr/>
        </p:nvSpPr>
        <p:spPr>
          <a:xfrm>
            <a:off x="1920240" y="3429000"/>
            <a:ext cx="914400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Threats Keep Evolving — So Must We</a:t>
            </a:r>
            <a:endParaRPr lang="en-US" sz="1600" dirty="0"/>
          </a:p>
        </p:txBody>
      </p:sp>
      <p:sp>
        <p:nvSpPr>
          <p:cNvPr id="8" name="Text 4"/>
          <p:cNvSpPr/>
          <p:nvPr/>
        </p:nvSpPr>
        <p:spPr>
          <a:xfrm>
            <a:off x="1920240" y="3840480"/>
            <a:ext cx="9144000" cy="777240"/>
          </a:xfrm>
          <a:prstGeom prst="rect">
            <a:avLst/>
          </a:prstGeom>
          <a:noFill/>
          <a:ln/>
        </p:spPr>
        <p:txBody>
          <a:bodyPr wrap="square" rtlCol="0" anchor="ctr"/>
          <a:lstStyle/>
          <a:p>
            <a:pPr marL="0" indent="0">
              <a:lnSpc>
                <a:spcPct val="130000"/>
              </a:lnSpc>
              <a:buNone/>
            </a:pPr>
            <a:r>
              <a:rPr lang="en-US" sz="1350" dirty="0">
                <a:solidFill>
                  <a:srgbClr val="AFC3D6"/>
                </a:solidFill>
                <a:latin typeface="Calibri" pitchFamily="34" charset="0"/>
                <a:ea typeface="Calibri" pitchFamily="34" charset="-122"/>
                <a:cs typeface="Calibri" pitchFamily="34" charset="-120"/>
              </a:rPr>
              <a:t>AI is accelerating both attacks and defenses. Continuous learning, regular security audits, and a culture of awareness are no longer optional — they are the baseline for staying ahead of tomorrow's threats.</a:t>
            </a:r>
            <a:endParaRPr lang="en-US" sz="1350" dirty="0"/>
          </a:p>
        </p:txBody>
      </p:sp>
      <p:sp>
        <p:nvSpPr>
          <p:cNvPr id="9" name="Shape 5"/>
          <p:cNvSpPr/>
          <p:nvPr/>
        </p:nvSpPr>
        <p:spPr>
          <a:xfrm>
            <a:off x="548640" y="5029200"/>
            <a:ext cx="3566160" cy="1143000"/>
          </a:xfrm>
          <a:prstGeom prst="roundRect">
            <a:avLst>
              <a:gd name="adj" fmla="val 6400"/>
            </a:avLst>
          </a:prstGeom>
          <a:solidFill>
            <a:srgbClr val="0F2745"/>
          </a:solidFill>
          <a:ln w="9525">
            <a:solidFill>
              <a:srgbClr val="00B4D8"/>
            </a:solidFill>
            <a:prstDash val="solid"/>
          </a:ln>
        </p:spPr>
      </p:sp>
      <p:sp>
        <p:nvSpPr>
          <p:cNvPr id="10" name="Text 6"/>
          <p:cNvSpPr/>
          <p:nvPr/>
        </p:nvSpPr>
        <p:spPr>
          <a:xfrm>
            <a:off x="731520" y="5029200"/>
            <a:ext cx="3200400" cy="1143000"/>
          </a:xfrm>
          <a:prstGeom prst="rect">
            <a:avLst/>
          </a:prstGeom>
          <a:noFill/>
          <a:ln/>
        </p:spPr>
        <p:txBody>
          <a:bodyPr wrap="square" rtlCol="0" anchor="ctr"/>
          <a:lstStyle/>
          <a:p>
            <a:pPr marL="0" indent="0">
              <a:lnSpc>
                <a:spcPct val="115000"/>
              </a:lnSpc>
              <a:buNone/>
            </a:pPr>
            <a:r>
              <a:rPr lang="en-US" sz="1300" b="1" dirty="0">
                <a:solidFill>
                  <a:srgbClr val="FFFFFF"/>
                </a:solidFill>
                <a:latin typeface="Calibri" pitchFamily="34" charset="0"/>
                <a:ea typeface="Calibri" pitchFamily="34" charset="-122"/>
                <a:cs typeface="Calibri" pitchFamily="34" charset="-120"/>
              </a:rPr>
              <a:t>Assume breach, plan for resilience</a:t>
            </a:r>
            <a:endParaRPr lang="en-US" sz="1300" dirty="0"/>
          </a:p>
        </p:txBody>
      </p:sp>
      <p:sp>
        <p:nvSpPr>
          <p:cNvPr id="11" name="Shape 7"/>
          <p:cNvSpPr/>
          <p:nvPr/>
        </p:nvSpPr>
        <p:spPr>
          <a:xfrm>
            <a:off x="4434840" y="5029200"/>
            <a:ext cx="3566160" cy="1143000"/>
          </a:xfrm>
          <a:prstGeom prst="roundRect">
            <a:avLst>
              <a:gd name="adj" fmla="val 6400"/>
            </a:avLst>
          </a:prstGeom>
          <a:solidFill>
            <a:srgbClr val="0F2745"/>
          </a:solidFill>
          <a:ln w="9525">
            <a:solidFill>
              <a:srgbClr val="00B4D8"/>
            </a:solidFill>
            <a:prstDash val="solid"/>
          </a:ln>
        </p:spPr>
      </p:sp>
      <p:sp>
        <p:nvSpPr>
          <p:cNvPr id="12" name="Text 8"/>
          <p:cNvSpPr/>
          <p:nvPr/>
        </p:nvSpPr>
        <p:spPr>
          <a:xfrm>
            <a:off x="4617720" y="5029200"/>
            <a:ext cx="3200400" cy="1143000"/>
          </a:xfrm>
          <a:prstGeom prst="rect">
            <a:avLst/>
          </a:prstGeom>
          <a:noFill/>
          <a:ln/>
        </p:spPr>
        <p:txBody>
          <a:bodyPr wrap="square" rtlCol="0" anchor="ctr"/>
          <a:lstStyle/>
          <a:p>
            <a:pPr marL="0" indent="0">
              <a:lnSpc>
                <a:spcPct val="115000"/>
              </a:lnSpc>
              <a:buNone/>
            </a:pPr>
            <a:r>
              <a:rPr lang="en-US" sz="1300" b="1" dirty="0">
                <a:solidFill>
                  <a:srgbClr val="FFFFFF"/>
                </a:solidFill>
                <a:latin typeface="Calibri" pitchFamily="34" charset="0"/>
                <a:ea typeface="Calibri" pitchFamily="34" charset="-122"/>
                <a:cs typeface="Calibri" pitchFamily="34" charset="-120"/>
              </a:rPr>
              <a:t>Train people, not just systems</a:t>
            </a:r>
            <a:endParaRPr lang="en-US" sz="1300" dirty="0"/>
          </a:p>
        </p:txBody>
      </p:sp>
      <p:sp>
        <p:nvSpPr>
          <p:cNvPr id="13" name="Shape 9"/>
          <p:cNvSpPr/>
          <p:nvPr/>
        </p:nvSpPr>
        <p:spPr>
          <a:xfrm>
            <a:off x="8321040" y="5029200"/>
            <a:ext cx="3566160" cy="1143000"/>
          </a:xfrm>
          <a:prstGeom prst="roundRect">
            <a:avLst>
              <a:gd name="adj" fmla="val 6400"/>
            </a:avLst>
          </a:prstGeom>
          <a:solidFill>
            <a:srgbClr val="0F2745"/>
          </a:solidFill>
          <a:ln w="9525">
            <a:solidFill>
              <a:srgbClr val="00B4D8"/>
            </a:solidFill>
            <a:prstDash val="solid"/>
          </a:ln>
        </p:spPr>
      </p:sp>
      <p:sp>
        <p:nvSpPr>
          <p:cNvPr id="14" name="Text 10"/>
          <p:cNvSpPr/>
          <p:nvPr/>
        </p:nvSpPr>
        <p:spPr>
          <a:xfrm>
            <a:off x="8503920" y="5029200"/>
            <a:ext cx="3200400" cy="1143000"/>
          </a:xfrm>
          <a:prstGeom prst="rect">
            <a:avLst/>
          </a:prstGeom>
          <a:noFill/>
          <a:ln/>
        </p:spPr>
        <p:txBody>
          <a:bodyPr wrap="square" rtlCol="0" anchor="ctr"/>
          <a:lstStyle/>
          <a:p>
            <a:pPr marL="0" indent="0">
              <a:lnSpc>
                <a:spcPct val="115000"/>
              </a:lnSpc>
              <a:buNone/>
            </a:pPr>
            <a:r>
              <a:rPr lang="en-US" sz="1300" b="1" dirty="0">
                <a:solidFill>
                  <a:srgbClr val="FFFFFF"/>
                </a:solidFill>
                <a:latin typeface="Calibri" pitchFamily="34" charset="0"/>
                <a:ea typeface="Calibri" pitchFamily="34" charset="-122"/>
                <a:cs typeface="Calibri" pitchFamily="34" charset="-120"/>
              </a:rPr>
              <a:t>Patch fast, monitor always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1390</Words>
  <Application>Microsoft Office PowerPoint</Application>
  <PresentationFormat>Widescreen</PresentationFormat>
  <Paragraphs>168</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Hemlata yadav</cp:lastModifiedBy>
  <cp:revision>1</cp:revision>
  <dcterms:created xsi:type="dcterms:W3CDTF">2026-07-17T10:37:03Z</dcterms:created>
  <dcterms:modified xsi:type="dcterms:W3CDTF">2026-07-18T13:56:43Z</dcterms:modified>
</cp:coreProperties>
</file>